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3f9271926304d99" /><Relationship Type="http://schemas.openxmlformats.org/officeDocument/2006/relationships/extended-properties" Target="/docProps/app.xml" Id="R6d641041e03540b8" /><Relationship Type="http://schemas.openxmlformats.org/officeDocument/2006/relationships/officeDocument" Target="/ppt/presentation.xml" Id="Ra96607d1c7fd4d8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1fba49616414681"/>
  </p:sldMasterIdLst>
  <p:notesMasterIdLst>
    <p:notesMasterId xmlns:r="http://schemas.openxmlformats.org/officeDocument/2006/relationships" r:id="R6e13c655aafe427d"/>
  </p:notesMasterIdLst>
  <p:sldIdLst>
    <p:sldId xmlns:r="http://schemas.openxmlformats.org/officeDocument/2006/relationships" id="256" r:id="Rf431653d102f4713"/>
    <p:sldId xmlns:r="http://schemas.openxmlformats.org/officeDocument/2006/relationships" id="257" r:id="R58a3b1e02e314448"/>
    <p:sldId xmlns:r="http://schemas.openxmlformats.org/officeDocument/2006/relationships" id="258" r:id="Ra1f1354f1cb0436b"/>
    <p:sldId xmlns:r="http://schemas.openxmlformats.org/officeDocument/2006/relationships" id="259" r:id="R293fb83e22b54634"/>
    <p:sldId xmlns:r="http://schemas.openxmlformats.org/officeDocument/2006/relationships" id="260" r:id="R1f777c1246d94994"/>
    <p:sldId xmlns:r="http://schemas.openxmlformats.org/officeDocument/2006/relationships" id="261" r:id="Rafd65bd5ddcb4fe4"/>
    <p:sldId xmlns:r="http://schemas.openxmlformats.org/officeDocument/2006/relationships" id="262" r:id="Rb2aba88736574bd6"/>
    <p:sldId xmlns:r="http://schemas.openxmlformats.org/officeDocument/2006/relationships" id="263" r:id="Rb431e6dd1b274a88"/>
    <p:sldId xmlns:r="http://schemas.openxmlformats.org/officeDocument/2006/relationships" id="264" r:id="Rc653f5f96743479d"/>
    <p:sldId xmlns:r="http://schemas.openxmlformats.org/officeDocument/2006/relationships" id="265" r:id="Rd50038eed32c4381"/>
    <p:sldId xmlns:r="http://schemas.openxmlformats.org/officeDocument/2006/relationships" id="266" r:id="R86169b502b184a08"/>
    <p:sldId xmlns:r="http://schemas.openxmlformats.org/officeDocument/2006/relationships" id="267" r:id="R0af1dd6b2a174b34"/>
    <p:sldId xmlns:r="http://schemas.openxmlformats.org/officeDocument/2006/relationships" id="268" r:id="R3a1d473cb6ab49de"/>
    <p:sldId xmlns:r="http://schemas.openxmlformats.org/officeDocument/2006/relationships" id="269" r:id="Ra7d0fab721ce468a"/>
    <p:sldId xmlns:r="http://schemas.openxmlformats.org/officeDocument/2006/relationships" id="270" r:id="R3d9afc3c62a340f5"/>
    <p:sldId xmlns:r="http://schemas.openxmlformats.org/officeDocument/2006/relationships" id="271" r:id="Rb394f86ae43b432e"/>
    <p:sldId xmlns:r="http://schemas.openxmlformats.org/officeDocument/2006/relationships" id="272" r:id="R6d77ad725c5b4580"/>
    <p:sldId xmlns:r="http://schemas.openxmlformats.org/officeDocument/2006/relationships" id="273" r:id="Rb46f25d0d468469a"/>
    <p:sldId xmlns:r="http://schemas.openxmlformats.org/officeDocument/2006/relationships" id="274" r:id="Red451729a23e44b8"/>
    <p:sldId xmlns:r="http://schemas.openxmlformats.org/officeDocument/2006/relationships" id="275" r:id="R74ec9171df634afe"/>
    <p:sldId xmlns:r="http://schemas.openxmlformats.org/officeDocument/2006/relationships" id="276" r:id="R9824373a67904e74"/>
    <p:sldId xmlns:r="http://schemas.openxmlformats.org/officeDocument/2006/relationships" id="277" r:id="R38308169c53a40b2"/>
    <p:sldId xmlns:r="http://schemas.openxmlformats.org/officeDocument/2006/relationships" id="278" r:id="R16f76c9f9b244ad8"/>
    <p:sldId xmlns:r="http://schemas.openxmlformats.org/officeDocument/2006/relationships" id="279" r:id="Rfbf2e24239764b59"/>
    <p:sldId xmlns:r="http://schemas.openxmlformats.org/officeDocument/2006/relationships" id="280" r:id="R4b5da3b42a50465b"/>
    <p:sldId xmlns:r="http://schemas.openxmlformats.org/officeDocument/2006/relationships" id="281" r:id="R5e45be3dbea64d74"/>
    <p:sldId xmlns:r="http://schemas.openxmlformats.org/officeDocument/2006/relationships" id="282" r:id="Rd860e18903ac43ea"/>
    <p:sldId xmlns:r="http://schemas.openxmlformats.org/officeDocument/2006/relationships" id="283" r:id="R7938f322a91b434e"/>
    <p:sldId xmlns:r="http://schemas.openxmlformats.org/officeDocument/2006/relationships" id="284" r:id="R93b191feea1a4e56"/>
    <p:sldId xmlns:r="http://schemas.openxmlformats.org/officeDocument/2006/relationships" id="285" r:id="Rf651e4042a1045e7"/>
    <p:sldId xmlns:r="http://schemas.openxmlformats.org/officeDocument/2006/relationships" id="286" r:id="R048c6adfc4414973"/>
    <p:sldId xmlns:r="http://schemas.openxmlformats.org/officeDocument/2006/relationships" id="287" r:id="R20c667eb156d4911"/>
    <p:sldId xmlns:r="http://schemas.openxmlformats.org/officeDocument/2006/relationships" id="288" r:id="Rc3dda6d437b74f15"/>
    <p:sldId xmlns:r="http://schemas.openxmlformats.org/officeDocument/2006/relationships" id="289" r:id="R15719a4d9bea4a13"/>
    <p:sldId xmlns:r="http://schemas.openxmlformats.org/officeDocument/2006/relationships" id="290" r:id="Rd855e497d1e34865"/>
    <p:sldId xmlns:r="http://schemas.openxmlformats.org/officeDocument/2006/relationships" id="291" r:id="Rb9737253b4784cc0"/>
    <p:sldId xmlns:r="http://schemas.openxmlformats.org/officeDocument/2006/relationships" id="292" r:id="R1961d855ed654060"/>
    <p:sldId xmlns:r="http://schemas.openxmlformats.org/officeDocument/2006/relationships" id="293" r:id="R31c2c13d034a43f3"/>
    <p:sldId xmlns:r="http://schemas.openxmlformats.org/officeDocument/2006/relationships" id="294" r:id="Rdd1173d8f2294a67"/>
    <p:sldId xmlns:r="http://schemas.openxmlformats.org/officeDocument/2006/relationships" id="295" r:id="Rbc5d5cdedc4a424a"/>
    <p:sldId xmlns:r="http://schemas.openxmlformats.org/officeDocument/2006/relationships" id="296" r:id="Rfcd32cb692ae410c"/>
    <p:sldId xmlns:r="http://schemas.openxmlformats.org/officeDocument/2006/relationships" id="297" r:id="R001b677ea2194bc4"/>
    <p:sldId xmlns:r="http://schemas.openxmlformats.org/officeDocument/2006/relationships" id="298" r:id="Rf5f124c882134d8b"/>
    <p:sldId xmlns:r="http://schemas.openxmlformats.org/officeDocument/2006/relationships" id="299" r:id="Rd1727c3570614bc9"/>
    <p:sldId xmlns:r="http://schemas.openxmlformats.org/officeDocument/2006/relationships" id="300" r:id="R0c0d52692f74482b"/>
    <p:sldId xmlns:r="http://schemas.openxmlformats.org/officeDocument/2006/relationships" id="301" r:id="Rba0e1eb8eb184084"/>
    <p:sldId xmlns:r="http://schemas.openxmlformats.org/officeDocument/2006/relationships" id="302" r:id="R4548f110742f4368"/>
    <p:sldId xmlns:r="http://schemas.openxmlformats.org/officeDocument/2006/relationships" id="303" r:id="R51d2f80c9fc7452d"/>
    <p:sldId xmlns:r="http://schemas.openxmlformats.org/officeDocument/2006/relationships" id="304" r:id="Read537ac257d4149"/>
    <p:sldId xmlns:r="http://schemas.openxmlformats.org/officeDocument/2006/relationships" id="305" r:id="R351bb409f95c4021"/>
    <p:sldId xmlns:r="http://schemas.openxmlformats.org/officeDocument/2006/relationships" id="306" r:id="R62c0717c89f342ce"/>
    <p:sldId xmlns:r="http://schemas.openxmlformats.org/officeDocument/2006/relationships" id="307" r:id="R7838dfafab494cb9"/>
    <p:sldId xmlns:r="http://schemas.openxmlformats.org/officeDocument/2006/relationships" id="308" r:id="R93bfb5e8261f4837"/>
    <p:sldId xmlns:r="http://schemas.openxmlformats.org/officeDocument/2006/relationships" id="309" r:id="R642583de9feb4b71"/>
    <p:sldId xmlns:r="http://schemas.openxmlformats.org/officeDocument/2006/relationships" id="310" r:id="R68fd4a5e00c64555"/>
    <p:sldId xmlns:r="http://schemas.openxmlformats.org/officeDocument/2006/relationships" id="311" r:id="Rd3cbc78a6fe94428"/>
    <p:sldId xmlns:r="http://schemas.openxmlformats.org/officeDocument/2006/relationships" id="312" r:id="Rfe029f6648614441"/>
    <p:sldId xmlns:r="http://schemas.openxmlformats.org/officeDocument/2006/relationships" id="313" r:id="Rffcf4e4e77e345e5"/>
    <p:sldId xmlns:r="http://schemas.openxmlformats.org/officeDocument/2006/relationships" id="314" r:id="R686fa50135d241ce"/>
    <p:sldId xmlns:r="http://schemas.openxmlformats.org/officeDocument/2006/relationships" id="315" r:id="Reb0377d88c9c4c4b"/>
    <p:sldId xmlns:r="http://schemas.openxmlformats.org/officeDocument/2006/relationships" id="316" r:id="R6da44ab96e77424d"/>
    <p:sldId xmlns:r="http://schemas.openxmlformats.org/officeDocument/2006/relationships" id="317" r:id="R918d828aee694b72"/>
    <p:sldId xmlns:r="http://schemas.openxmlformats.org/officeDocument/2006/relationships" id="318" r:id="R352c6ddfa3224ffa"/>
    <p:sldId xmlns:r="http://schemas.openxmlformats.org/officeDocument/2006/relationships" id="319" r:id="R9b78f9a1222c4ef3"/>
    <p:sldId xmlns:r="http://schemas.openxmlformats.org/officeDocument/2006/relationships" id="320" r:id="Rfb02c3c1c3f14f6b"/>
    <p:sldId xmlns:r="http://schemas.openxmlformats.org/officeDocument/2006/relationships" id="321" r:id="R9e37dfedf87141f8"/>
    <p:sldId xmlns:r="http://schemas.openxmlformats.org/officeDocument/2006/relationships" id="322" r:id="R26a0d36423ba4beb"/>
    <p:sldId xmlns:r="http://schemas.openxmlformats.org/officeDocument/2006/relationships" id="323" r:id="Rc02cf5eb94eb4e8a"/>
    <p:sldId xmlns:r="http://schemas.openxmlformats.org/officeDocument/2006/relationships" id="324" r:id="R7df549417c3e4f80"/>
    <p:sldId xmlns:r="http://schemas.openxmlformats.org/officeDocument/2006/relationships" id="325" r:id="R247f88e0804742ef"/>
    <p:sldId xmlns:r="http://schemas.openxmlformats.org/officeDocument/2006/relationships" id="326" r:id="R235a376d561845e2"/>
    <p:sldId xmlns:r="http://schemas.openxmlformats.org/officeDocument/2006/relationships" id="327" r:id="R0232eb97e5fe4992"/>
    <p:sldId xmlns:r="http://schemas.openxmlformats.org/officeDocument/2006/relationships" id="328" r:id="Rdc3c3593800d44b3"/>
    <p:sldId xmlns:r="http://schemas.openxmlformats.org/officeDocument/2006/relationships" id="329" r:id="R6737f76e4f8d42c3"/>
    <p:sldId xmlns:r="http://schemas.openxmlformats.org/officeDocument/2006/relationships" id="330" r:id="R92b0b76fd1ef4e17"/>
    <p:sldId xmlns:r="http://schemas.openxmlformats.org/officeDocument/2006/relationships" id="331" r:id="Re21a4754329e4d5e"/>
    <p:sldId xmlns:r="http://schemas.openxmlformats.org/officeDocument/2006/relationships" id="332" r:id="Rdb64810885b247a4"/>
    <p:sldId xmlns:r="http://schemas.openxmlformats.org/officeDocument/2006/relationships" id="333" r:id="R897a968460f440d0"/>
    <p:sldId xmlns:r="http://schemas.openxmlformats.org/officeDocument/2006/relationships" id="334" r:id="R1af633a415ae455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c6fe77dc86d4612" /><Relationship Type="http://schemas.openxmlformats.org/officeDocument/2006/relationships/slideMaster" Target="/ppt/slideMasters/slideMaster1.xml" Id="R11fba49616414681" /><Relationship Type="http://schemas.openxmlformats.org/officeDocument/2006/relationships/notesMaster" Target="/ppt/notesMasters/notesMaster1.xml" Id="R6e13c655aafe427d" /><Relationship Type="http://schemas.openxmlformats.org/officeDocument/2006/relationships/presProps" Target="/ppt/presProps.xml" Id="R5fd8113cc6f8419b" /><Relationship Type="http://schemas.openxmlformats.org/officeDocument/2006/relationships/tableStyles" Target="/ppt/tableStyles.xml" Id="R0ae8e639ecf64a19" /><Relationship Type="http://schemas.openxmlformats.org/officeDocument/2006/relationships/slide" Target="/ppt/slides/slide1.xml" Id="Rf431653d102f4713" /><Relationship Type="http://schemas.openxmlformats.org/officeDocument/2006/relationships/slide" Target="/ppt/slides/slide2.xml" Id="R58a3b1e02e314448" /><Relationship Type="http://schemas.openxmlformats.org/officeDocument/2006/relationships/slide" Target="/ppt/slides/slide3.xml" Id="Ra1f1354f1cb0436b" /><Relationship Type="http://schemas.openxmlformats.org/officeDocument/2006/relationships/slide" Target="/ppt/slides/slide4.xml" Id="R293fb83e22b54634" /><Relationship Type="http://schemas.openxmlformats.org/officeDocument/2006/relationships/slide" Target="/ppt/slides/slide5.xml" Id="R1f777c1246d94994" /><Relationship Type="http://schemas.openxmlformats.org/officeDocument/2006/relationships/slide" Target="/ppt/slides/slide6.xml" Id="Rafd65bd5ddcb4fe4" /><Relationship Type="http://schemas.openxmlformats.org/officeDocument/2006/relationships/slide" Target="/ppt/slides/slide7.xml" Id="Rb2aba88736574bd6" /><Relationship Type="http://schemas.openxmlformats.org/officeDocument/2006/relationships/slide" Target="/ppt/slides/slide8.xml" Id="Rb431e6dd1b274a88" /><Relationship Type="http://schemas.openxmlformats.org/officeDocument/2006/relationships/slide" Target="/ppt/slides/slide9.xml" Id="Rc653f5f96743479d" /><Relationship Type="http://schemas.openxmlformats.org/officeDocument/2006/relationships/slide" Target="/ppt/slides/slide10.xml" Id="Rd50038eed32c4381" /><Relationship Type="http://schemas.openxmlformats.org/officeDocument/2006/relationships/slide" Target="/ppt/slides/slide11.xml" Id="R86169b502b184a08" /><Relationship Type="http://schemas.openxmlformats.org/officeDocument/2006/relationships/slide" Target="/ppt/slides/slide12.xml" Id="R0af1dd6b2a174b34" /><Relationship Type="http://schemas.openxmlformats.org/officeDocument/2006/relationships/slide" Target="/ppt/slides/slide13.xml" Id="R3a1d473cb6ab49de" /><Relationship Type="http://schemas.openxmlformats.org/officeDocument/2006/relationships/slide" Target="/ppt/slides/slide14.xml" Id="Ra7d0fab721ce468a" /><Relationship Type="http://schemas.openxmlformats.org/officeDocument/2006/relationships/slide" Target="/ppt/slides/slide15.xml" Id="R3d9afc3c62a340f5" /><Relationship Type="http://schemas.openxmlformats.org/officeDocument/2006/relationships/slide" Target="/ppt/slides/slide16.xml" Id="Rb394f86ae43b432e" /><Relationship Type="http://schemas.openxmlformats.org/officeDocument/2006/relationships/slide" Target="/ppt/slides/slide17.xml" Id="R6d77ad725c5b4580" /><Relationship Type="http://schemas.openxmlformats.org/officeDocument/2006/relationships/slide" Target="/ppt/slides/slide18.xml" Id="Rb46f25d0d468469a" /><Relationship Type="http://schemas.openxmlformats.org/officeDocument/2006/relationships/slide" Target="/ppt/slides/slide19.xml" Id="Red451729a23e44b8" /><Relationship Type="http://schemas.openxmlformats.org/officeDocument/2006/relationships/slide" Target="/ppt/slides/slide20.xml" Id="R74ec9171df634afe" /><Relationship Type="http://schemas.openxmlformats.org/officeDocument/2006/relationships/slide" Target="/ppt/slides/slide21.xml" Id="R9824373a67904e74" /><Relationship Type="http://schemas.openxmlformats.org/officeDocument/2006/relationships/slide" Target="/ppt/slides/slide22.xml" Id="R38308169c53a40b2" /><Relationship Type="http://schemas.openxmlformats.org/officeDocument/2006/relationships/slide" Target="/ppt/slides/slide23.xml" Id="R16f76c9f9b244ad8" /><Relationship Type="http://schemas.openxmlformats.org/officeDocument/2006/relationships/slide" Target="/ppt/slides/slide24.xml" Id="Rfbf2e24239764b59" /><Relationship Type="http://schemas.openxmlformats.org/officeDocument/2006/relationships/slide" Target="/ppt/slides/slide25.xml" Id="R4b5da3b42a50465b" /><Relationship Type="http://schemas.openxmlformats.org/officeDocument/2006/relationships/slide" Target="/ppt/slides/slide26.xml" Id="R5e45be3dbea64d74" /><Relationship Type="http://schemas.openxmlformats.org/officeDocument/2006/relationships/slide" Target="/ppt/slides/slide27.xml" Id="Rd860e18903ac43ea" /><Relationship Type="http://schemas.openxmlformats.org/officeDocument/2006/relationships/slide" Target="/ppt/slides/slide28.xml" Id="R7938f322a91b434e" /><Relationship Type="http://schemas.openxmlformats.org/officeDocument/2006/relationships/slide" Target="/ppt/slides/slide29.xml" Id="R93b191feea1a4e56" /><Relationship Type="http://schemas.openxmlformats.org/officeDocument/2006/relationships/slide" Target="/ppt/slides/slide30.xml" Id="Rf651e4042a1045e7" /><Relationship Type="http://schemas.openxmlformats.org/officeDocument/2006/relationships/slide" Target="/ppt/slides/slide31.xml" Id="R048c6adfc4414973" /><Relationship Type="http://schemas.openxmlformats.org/officeDocument/2006/relationships/slide" Target="/ppt/slides/slide32.xml" Id="R20c667eb156d4911" /><Relationship Type="http://schemas.openxmlformats.org/officeDocument/2006/relationships/slide" Target="/ppt/slides/slide33.xml" Id="Rc3dda6d437b74f15" /><Relationship Type="http://schemas.openxmlformats.org/officeDocument/2006/relationships/slide" Target="/ppt/slides/slide34.xml" Id="R15719a4d9bea4a13" /><Relationship Type="http://schemas.openxmlformats.org/officeDocument/2006/relationships/slide" Target="/ppt/slides/slide35.xml" Id="Rd855e497d1e34865" /><Relationship Type="http://schemas.openxmlformats.org/officeDocument/2006/relationships/slide" Target="/ppt/slides/slide36.xml" Id="Rb9737253b4784cc0" /><Relationship Type="http://schemas.openxmlformats.org/officeDocument/2006/relationships/slide" Target="/ppt/slides/slide37.xml" Id="R1961d855ed654060" /><Relationship Type="http://schemas.openxmlformats.org/officeDocument/2006/relationships/slide" Target="/ppt/slides/slide38.xml" Id="R31c2c13d034a43f3" /><Relationship Type="http://schemas.openxmlformats.org/officeDocument/2006/relationships/slide" Target="/ppt/slides/slide39.xml" Id="Rdd1173d8f2294a67" /><Relationship Type="http://schemas.openxmlformats.org/officeDocument/2006/relationships/slide" Target="/ppt/slides/slide40.xml" Id="Rbc5d5cdedc4a424a" /><Relationship Type="http://schemas.openxmlformats.org/officeDocument/2006/relationships/slide" Target="/ppt/slides/slide41.xml" Id="Rfcd32cb692ae410c" /><Relationship Type="http://schemas.openxmlformats.org/officeDocument/2006/relationships/slide" Target="/ppt/slides/slide42.xml" Id="R001b677ea2194bc4" /><Relationship Type="http://schemas.openxmlformats.org/officeDocument/2006/relationships/slide" Target="/ppt/slides/slide43.xml" Id="Rf5f124c882134d8b" /><Relationship Type="http://schemas.openxmlformats.org/officeDocument/2006/relationships/slide" Target="/ppt/slides/slide44.xml" Id="Rd1727c3570614bc9" /><Relationship Type="http://schemas.openxmlformats.org/officeDocument/2006/relationships/slide" Target="/ppt/slides/slide45.xml" Id="R0c0d52692f74482b" /><Relationship Type="http://schemas.openxmlformats.org/officeDocument/2006/relationships/slide" Target="/ppt/slides/slide46.xml" Id="Rba0e1eb8eb184084" /><Relationship Type="http://schemas.openxmlformats.org/officeDocument/2006/relationships/slide" Target="/ppt/slides/slide47.xml" Id="R4548f110742f4368" /><Relationship Type="http://schemas.openxmlformats.org/officeDocument/2006/relationships/slide" Target="/ppt/slides/slide48.xml" Id="R51d2f80c9fc7452d" /><Relationship Type="http://schemas.openxmlformats.org/officeDocument/2006/relationships/slide" Target="/ppt/slides/slide49.xml" Id="Read537ac257d4149" /><Relationship Type="http://schemas.openxmlformats.org/officeDocument/2006/relationships/slide" Target="/ppt/slides/slide50.xml" Id="R351bb409f95c4021" /><Relationship Type="http://schemas.openxmlformats.org/officeDocument/2006/relationships/slide" Target="/ppt/slides/slide51.xml" Id="R62c0717c89f342ce" /><Relationship Type="http://schemas.openxmlformats.org/officeDocument/2006/relationships/slide" Target="/ppt/slides/slide52.xml" Id="R7838dfafab494cb9" /><Relationship Type="http://schemas.openxmlformats.org/officeDocument/2006/relationships/slide" Target="/ppt/slides/slide53.xml" Id="R93bfb5e8261f4837" /><Relationship Type="http://schemas.openxmlformats.org/officeDocument/2006/relationships/slide" Target="/ppt/slides/slide54.xml" Id="R642583de9feb4b71" /><Relationship Type="http://schemas.openxmlformats.org/officeDocument/2006/relationships/slide" Target="/ppt/slides/slide55.xml" Id="R68fd4a5e00c64555" /><Relationship Type="http://schemas.openxmlformats.org/officeDocument/2006/relationships/slide" Target="/ppt/slides/slide56.xml" Id="Rd3cbc78a6fe94428" /><Relationship Type="http://schemas.openxmlformats.org/officeDocument/2006/relationships/slide" Target="/ppt/slides/slide57.xml" Id="Rfe029f6648614441" /><Relationship Type="http://schemas.openxmlformats.org/officeDocument/2006/relationships/slide" Target="/ppt/slides/slide58.xml" Id="Rffcf4e4e77e345e5" /><Relationship Type="http://schemas.openxmlformats.org/officeDocument/2006/relationships/slide" Target="/ppt/slides/slide59.xml" Id="R686fa50135d241ce" /><Relationship Type="http://schemas.openxmlformats.org/officeDocument/2006/relationships/slide" Target="/ppt/slides/slide60.xml" Id="Reb0377d88c9c4c4b" /><Relationship Type="http://schemas.openxmlformats.org/officeDocument/2006/relationships/slide" Target="/ppt/slides/slide61.xml" Id="R6da44ab96e77424d" /><Relationship Type="http://schemas.openxmlformats.org/officeDocument/2006/relationships/slide" Target="/ppt/slides/slide62.xml" Id="R918d828aee694b72" /><Relationship Type="http://schemas.openxmlformats.org/officeDocument/2006/relationships/slide" Target="/ppt/slides/slide63.xml" Id="R352c6ddfa3224ffa" /><Relationship Type="http://schemas.openxmlformats.org/officeDocument/2006/relationships/slide" Target="/ppt/slides/slide64.xml" Id="R9b78f9a1222c4ef3" /><Relationship Type="http://schemas.openxmlformats.org/officeDocument/2006/relationships/slide" Target="/ppt/slides/slide65.xml" Id="Rfb02c3c1c3f14f6b" /><Relationship Type="http://schemas.openxmlformats.org/officeDocument/2006/relationships/slide" Target="/ppt/slides/slide66.xml" Id="R9e37dfedf87141f8" /><Relationship Type="http://schemas.openxmlformats.org/officeDocument/2006/relationships/slide" Target="/ppt/slides/slide67.xml" Id="R26a0d36423ba4beb" /><Relationship Type="http://schemas.openxmlformats.org/officeDocument/2006/relationships/slide" Target="/ppt/slides/slide68.xml" Id="Rc02cf5eb94eb4e8a" /><Relationship Type="http://schemas.openxmlformats.org/officeDocument/2006/relationships/slide" Target="/ppt/slides/slide69.xml" Id="R7df549417c3e4f80" /><Relationship Type="http://schemas.openxmlformats.org/officeDocument/2006/relationships/slide" Target="/ppt/slides/slide70.xml" Id="R247f88e0804742ef" /><Relationship Type="http://schemas.openxmlformats.org/officeDocument/2006/relationships/slide" Target="/ppt/slides/slide71.xml" Id="R235a376d561845e2" /><Relationship Type="http://schemas.openxmlformats.org/officeDocument/2006/relationships/slide" Target="/ppt/slides/slide72.xml" Id="R0232eb97e5fe4992" /><Relationship Type="http://schemas.openxmlformats.org/officeDocument/2006/relationships/slide" Target="/ppt/slides/slide73.xml" Id="Rdc3c3593800d44b3" /><Relationship Type="http://schemas.openxmlformats.org/officeDocument/2006/relationships/slide" Target="/ppt/slides/slide74.xml" Id="R6737f76e4f8d42c3" /><Relationship Type="http://schemas.openxmlformats.org/officeDocument/2006/relationships/slide" Target="/ppt/slides/slide75.xml" Id="R92b0b76fd1ef4e17" /><Relationship Type="http://schemas.openxmlformats.org/officeDocument/2006/relationships/slide" Target="/ppt/slides/slide76.xml" Id="Re21a4754329e4d5e" /><Relationship Type="http://schemas.openxmlformats.org/officeDocument/2006/relationships/slide" Target="/ppt/slides/slide77.xml" Id="Rdb64810885b247a4" /><Relationship Type="http://schemas.openxmlformats.org/officeDocument/2006/relationships/slide" Target="/ppt/slides/slide78.xml" Id="R897a968460f440d0" /><Relationship Type="http://schemas.openxmlformats.org/officeDocument/2006/relationships/slide" Target="/ppt/slides/slide79.xml" Id="R1af633a415ae455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32cc90b0be2423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98b20ab28284747" /><Relationship Type="http://schemas.openxmlformats.org/officeDocument/2006/relationships/notesMaster" Target="/ppt/notesMasters/notesMaster1.xml" Id="Rb4db4cafa66242e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096cf13fd9c480e" /><Relationship Type="http://schemas.openxmlformats.org/officeDocument/2006/relationships/notesMaster" Target="/ppt/notesMasters/notesMaster1.xml" Id="Rdd0b6e4d9fdd4b1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ce19dcd9dde4b6a" /><Relationship Type="http://schemas.openxmlformats.org/officeDocument/2006/relationships/notesMaster" Target="/ppt/notesMasters/notesMaster1.xml" Id="R924e5955a766424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d7d61d958d14061" /><Relationship Type="http://schemas.openxmlformats.org/officeDocument/2006/relationships/notesMaster" Target="/ppt/notesMasters/notesMaster1.xml" Id="Rd27d1a67f7ef423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b8f445095c248a6" /><Relationship Type="http://schemas.openxmlformats.org/officeDocument/2006/relationships/notesMaster" Target="/ppt/notesMasters/notesMaster1.xml" Id="R4cd63feffcfa400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499a918ba9b4149" /><Relationship Type="http://schemas.openxmlformats.org/officeDocument/2006/relationships/notesMaster" Target="/ppt/notesMasters/notesMaster1.xml" Id="R25d63f7192524dd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d05cb3665b84b72" /><Relationship Type="http://schemas.openxmlformats.org/officeDocument/2006/relationships/notesMaster" Target="/ppt/notesMasters/notesMaster1.xml" Id="Rfb6663cbe8924a1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8b5406879184a0b" /><Relationship Type="http://schemas.openxmlformats.org/officeDocument/2006/relationships/notesMaster" Target="/ppt/notesMasters/notesMaster1.xml" Id="R80df0f338b05402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3227fe315ba46f9" /><Relationship Type="http://schemas.openxmlformats.org/officeDocument/2006/relationships/notesMaster" Target="/ppt/notesMasters/notesMaster1.xml" Id="Rb2715322a4754f5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19250a518774e41" /><Relationship Type="http://schemas.openxmlformats.org/officeDocument/2006/relationships/notesMaster" Target="/ppt/notesMasters/notesMaster1.xml" Id="Ra9f4a0001eda485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5e959556bee44d5" /><Relationship Type="http://schemas.openxmlformats.org/officeDocument/2006/relationships/notesMaster" Target="/ppt/notesMasters/notesMaster1.xml" Id="Rc9cac1f7ea3c48c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7cc3d57c78f4f70" /><Relationship Type="http://schemas.openxmlformats.org/officeDocument/2006/relationships/notesMaster" Target="/ppt/notesMasters/notesMaster1.xml" Id="R20b290185f6a493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b9a1098bef14a01" /><Relationship Type="http://schemas.openxmlformats.org/officeDocument/2006/relationships/notesMaster" Target="/ppt/notesMasters/notesMaster1.xml" Id="R387bb5426b9c4c9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ade5d2ddaeb44ae" /><Relationship Type="http://schemas.openxmlformats.org/officeDocument/2006/relationships/notesMaster" Target="/ppt/notesMasters/notesMaster1.xml" Id="Rb6d3c2bc79bf4ff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6f3dfb5b18c454c" /><Relationship Type="http://schemas.openxmlformats.org/officeDocument/2006/relationships/notesMaster" Target="/ppt/notesMasters/notesMaster1.xml" Id="R6ce52e1406df47f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dd45b44b25f44c9" /><Relationship Type="http://schemas.openxmlformats.org/officeDocument/2006/relationships/notesMaster" Target="/ppt/notesMasters/notesMaster1.xml" Id="R0bd4f7db6d314b9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2040398bf834021" /><Relationship Type="http://schemas.openxmlformats.org/officeDocument/2006/relationships/notesMaster" Target="/ppt/notesMasters/notesMaster1.xml" Id="R55f7c37aba4d42e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6ba795f8d504b3e" /><Relationship Type="http://schemas.openxmlformats.org/officeDocument/2006/relationships/notesMaster" Target="/ppt/notesMasters/notesMaster1.xml" Id="R4df7562020e643a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c33f8cb573b4398" /><Relationship Type="http://schemas.openxmlformats.org/officeDocument/2006/relationships/notesMaster" Target="/ppt/notesMasters/notesMaster1.xml" Id="Rc1a2a37670e44fa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fd3b1f4dec94e11" /><Relationship Type="http://schemas.openxmlformats.org/officeDocument/2006/relationships/notesMaster" Target="/ppt/notesMasters/notesMaster1.xml" Id="R12707e847f8f45d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2f7090ba38049e5" /><Relationship Type="http://schemas.openxmlformats.org/officeDocument/2006/relationships/notesMaster" Target="/ppt/notesMasters/notesMaster1.xml" Id="R1b0d57add98f444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df17ec23b884d48" /><Relationship Type="http://schemas.openxmlformats.org/officeDocument/2006/relationships/notesMaster" Target="/ppt/notesMasters/notesMaster1.xml" Id="Rb926fcb9ff68449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ec02f05e230444e" /><Relationship Type="http://schemas.openxmlformats.org/officeDocument/2006/relationships/notesMaster" Target="/ppt/notesMasters/notesMaster1.xml" Id="R5d7b7ac1e3a94fc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200d881f65e4a9b" /><Relationship Type="http://schemas.openxmlformats.org/officeDocument/2006/relationships/notesMaster" Target="/ppt/notesMasters/notesMaster1.xml" Id="Rc962fa0774f341f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36e5286748144f7" /><Relationship Type="http://schemas.openxmlformats.org/officeDocument/2006/relationships/notesMaster" Target="/ppt/notesMasters/notesMaster1.xml" Id="R3e3db29351a647e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16e784234194267" /><Relationship Type="http://schemas.openxmlformats.org/officeDocument/2006/relationships/notesMaster" Target="/ppt/notesMasters/notesMaster1.xml" Id="R8f0084e78b0449a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63f06d818814bca" /><Relationship Type="http://schemas.openxmlformats.org/officeDocument/2006/relationships/notesMaster" Target="/ppt/notesMasters/notesMaster1.xml" Id="Rcdd6ff05ecde410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822a6cb29184506" /><Relationship Type="http://schemas.openxmlformats.org/officeDocument/2006/relationships/notesMaster" Target="/ppt/notesMasters/notesMaster1.xml" Id="R289e17b710c74ae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fe42da6fad2e4460" /><Relationship Type="http://schemas.openxmlformats.org/officeDocument/2006/relationships/notesMaster" Target="/ppt/notesMasters/notesMaster1.xml" Id="R5e25f586e3b748a4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241a2b642c264472" /><Relationship Type="http://schemas.openxmlformats.org/officeDocument/2006/relationships/notesMaster" Target="/ppt/notesMasters/notesMaster1.xml" Id="R5c5e6d11210f44b7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858361aac3864cb8" /><Relationship Type="http://schemas.openxmlformats.org/officeDocument/2006/relationships/notesMaster" Target="/ppt/notesMasters/notesMaster1.xml" Id="R7447990d1a8543af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c9e6c5dc9ccf4acb" /><Relationship Type="http://schemas.openxmlformats.org/officeDocument/2006/relationships/notesMaster" Target="/ppt/notesMasters/notesMaster1.xml" Id="R95167277102944c8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525fcc033b0f44bc" /><Relationship Type="http://schemas.openxmlformats.org/officeDocument/2006/relationships/notesMaster" Target="/ppt/notesMasters/notesMaster1.xml" Id="R3edfbdbf74c343bb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fff2adc2e38c4f35" /><Relationship Type="http://schemas.openxmlformats.org/officeDocument/2006/relationships/notesMaster" Target="/ppt/notesMasters/notesMaster1.xml" Id="Ra59b1bb3eb8648fb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49c95b107a224827" /><Relationship Type="http://schemas.openxmlformats.org/officeDocument/2006/relationships/notesMaster" Target="/ppt/notesMasters/notesMaster1.xml" Id="R3ad81465b5b04b5e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4d6e4c48ca7b4ca2" /><Relationship Type="http://schemas.openxmlformats.org/officeDocument/2006/relationships/notesMaster" Target="/ppt/notesMasters/notesMaster1.xml" Id="R5b4cb261dd4b4abe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ef0b98a027f8437d" /><Relationship Type="http://schemas.openxmlformats.org/officeDocument/2006/relationships/notesMaster" Target="/ppt/notesMasters/notesMaster1.xml" Id="R669424fc0d6240ed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abbe1826e4254753" /><Relationship Type="http://schemas.openxmlformats.org/officeDocument/2006/relationships/notesMaster" Target="/ppt/notesMasters/notesMaster1.xml" Id="R4817e08fd1034fed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6965b6f0a95f48a2" /><Relationship Type="http://schemas.openxmlformats.org/officeDocument/2006/relationships/notesMaster" Target="/ppt/notesMasters/notesMaster1.xml" Id="R85bcdadc3b1e49ba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f5321e64b6434b36" /><Relationship Type="http://schemas.openxmlformats.org/officeDocument/2006/relationships/notesMaster" Target="/ppt/notesMasters/notesMaster1.xml" Id="R24289747de13431b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a8c62d696b2c4e90" /><Relationship Type="http://schemas.openxmlformats.org/officeDocument/2006/relationships/notesMaster" Target="/ppt/notesMasters/notesMaster1.xml" Id="Rc990f2edeef949d8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c8248de5bbae4948" /><Relationship Type="http://schemas.openxmlformats.org/officeDocument/2006/relationships/notesMaster" Target="/ppt/notesMasters/notesMaster1.xml" Id="Ra296ad805ca14ff1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2ff08f83888744d2" /><Relationship Type="http://schemas.openxmlformats.org/officeDocument/2006/relationships/notesMaster" Target="/ppt/notesMasters/notesMaster1.xml" Id="R78ca2c5490e34057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f6f37ba1dfcc4f78" /><Relationship Type="http://schemas.openxmlformats.org/officeDocument/2006/relationships/notesMaster" Target="/ppt/notesMasters/notesMaster1.xml" Id="Rb9768c83fa654d2b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8f7a6b8f60744007" /><Relationship Type="http://schemas.openxmlformats.org/officeDocument/2006/relationships/notesMaster" Target="/ppt/notesMasters/notesMaster1.xml" Id="Rc2808568568c4757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bfc2aa43db2544a4" /><Relationship Type="http://schemas.openxmlformats.org/officeDocument/2006/relationships/notesMaster" Target="/ppt/notesMasters/notesMaster1.xml" Id="R5c5882209d5a42b1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31a7d944f8fa4337" /><Relationship Type="http://schemas.openxmlformats.org/officeDocument/2006/relationships/notesMaster" Target="/ppt/notesMasters/notesMaster1.xml" Id="R61c103762bb842ec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203372b6c50748d1" /><Relationship Type="http://schemas.openxmlformats.org/officeDocument/2006/relationships/notesMaster" Target="/ppt/notesMasters/notesMaster1.xml" Id="R1c681bbcd8b347c9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9dcab2be86104f4c" /><Relationship Type="http://schemas.openxmlformats.org/officeDocument/2006/relationships/notesMaster" Target="/ppt/notesMasters/notesMaster1.xml" Id="R94de0ba2f5cc42ed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94e75a94994e456d" /><Relationship Type="http://schemas.openxmlformats.org/officeDocument/2006/relationships/notesMaster" Target="/ppt/notesMasters/notesMaster1.xml" Id="R73e3eaecc22f4d19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2c2af761d6b04345" /><Relationship Type="http://schemas.openxmlformats.org/officeDocument/2006/relationships/notesMaster" Target="/ppt/notesMasters/notesMaster1.xml" Id="Re5df2b523b1240cd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3531f7ae77d34bba" /><Relationship Type="http://schemas.openxmlformats.org/officeDocument/2006/relationships/notesMaster" Target="/ppt/notesMasters/notesMaster1.xml" Id="Rf42ba55bdeab4327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edf2bf25301d4de5" /><Relationship Type="http://schemas.openxmlformats.org/officeDocument/2006/relationships/notesMaster" Target="/ppt/notesMasters/notesMaster1.xml" Id="R5e5c6d08a43249a6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1f42184b19a04112" /><Relationship Type="http://schemas.openxmlformats.org/officeDocument/2006/relationships/notesMaster" Target="/ppt/notesMasters/notesMaster1.xml" Id="R250ea1b72ab64439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a113dfeb336d4412" /><Relationship Type="http://schemas.openxmlformats.org/officeDocument/2006/relationships/notesMaster" Target="/ppt/notesMasters/notesMaster1.xml" Id="Ra429ba6f682c4c7f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9877edc8ea564588" /><Relationship Type="http://schemas.openxmlformats.org/officeDocument/2006/relationships/notesMaster" Target="/ppt/notesMasters/notesMaster1.xml" Id="R455c05beb58e49d2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ce253f68cc234964" /><Relationship Type="http://schemas.openxmlformats.org/officeDocument/2006/relationships/notesMaster" Target="/ppt/notesMasters/notesMaster1.xml" Id="R9f3113d7799a4b67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92601bd4ad4e41cb" /><Relationship Type="http://schemas.openxmlformats.org/officeDocument/2006/relationships/notesMaster" Target="/ppt/notesMasters/notesMaster1.xml" Id="R15366d07f1154d9c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e39e31b3e8914ef4" /><Relationship Type="http://schemas.openxmlformats.org/officeDocument/2006/relationships/notesMaster" Target="/ppt/notesMasters/notesMaster1.xml" Id="Rb9c25043fdc0461b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abbdf5eb805e46cc" /><Relationship Type="http://schemas.openxmlformats.org/officeDocument/2006/relationships/notesMaster" Target="/ppt/notesMasters/notesMaster1.xml" Id="Rc2abff4b73584228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fcb970ea61f64f9d" /><Relationship Type="http://schemas.openxmlformats.org/officeDocument/2006/relationships/notesMaster" Target="/ppt/notesMasters/notesMaster1.xml" Id="R4bd97d11fcd74a8e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f4517ed38f5e40c6" /><Relationship Type="http://schemas.openxmlformats.org/officeDocument/2006/relationships/notesMaster" Target="/ppt/notesMasters/notesMaster1.xml" Id="Rd20c87d06db34cfa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6573fff490cd4c59" /><Relationship Type="http://schemas.openxmlformats.org/officeDocument/2006/relationships/notesMaster" Target="/ppt/notesMasters/notesMaster1.xml" Id="R262e97dfa20c4f9b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487562bd3bec450c" /><Relationship Type="http://schemas.openxmlformats.org/officeDocument/2006/relationships/notesMaster" Target="/ppt/notesMasters/notesMaster1.xml" Id="Rd78163e1800d4e22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48d2d1d1bc2f43e6" /><Relationship Type="http://schemas.openxmlformats.org/officeDocument/2006/relationships/notesMaster" Target="/ppt/notesMasters/notesMaster1.xml" Id="R9892ea404ebe427d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8d8498b106ca4d96" /><Relationship Type="http://schemas.openxmlformats.org/officeDocument/2006/relationships/notesMaster" Target="/ppt/notesMasters/notesMaster1.xml" Id="Ra4614961c4ab402e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4d795c2484604905" /><Relationship Type="http://schemas.openxmlformats.org/officeDocument/2006/relationships/notesMaster" Target="/ppt/notesMasters/notesMaster1.xml" Id="R81d7516882f4466b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06a15a64a51644bc" /><Relationship Type="http://schemas.openxmlformats.org/officeDocument/2006/relationships/notesMaster" Target="/ppt/notesMasters/notesMaster1.xml" Id="R4149bd444b9f4d73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888f3b7eaa034a17" /><Relationship Type="http://schemas.openxmlformats.org/officeDocument/2006/relationships/notesMaster" Target="/ppt/notesMasters/notesMaster1.xml" Id="R25df275f5d0d40a4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240a034d1e934594" /><Relationship Type="http://schemas.openxmlformats.org/officeDocument/2006/relationships/notesMaster" Target="/ppt/notesMasters/notesMaster1.xml" Id="R0b2ee9bfffea450d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5231734aea674fd4" /><Relationship Type="http://schemas.openxmlformats.org/officeDocument/2006/relationships/notesMaster" Target="/ppt/notesMasters/notesMaster1.xml" Id="R3211e4064df8492a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013dc2efdcdc4dfa" /><Relationship Type="http://schemas.openxmlformats.org/officeDocument/2006/relationships/notesMaster" Target="/ppt/notesMasters/notesMaster1.xml" Id="Rccef0874415d4602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8f6bf9333d294cbe" /><Relationship Type="http://schemas.openxmlformats.org/officeDocument/2006/relationships/notesMaster" Target="/ppt/notesMasters/notesMaster1.xml" Id="R2ebe9a4f1ebc4ca1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96a8206cdc1a4ca4" /><Relationship Type="http://schemas.openxmlformats.org/officeDocument/2006/relationships/notesMaster" Target="/ppt/notesMasters/notesMaster1.xml" Id="Rb543142c44144a7b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ef50ed4892584311" /><Relationship Type="http://schemas.openxmlformats.org/officeDocument/2006/relationships/notesMaster" Target="/ppt/notesMasters/notesMaster1.xml" Id="R489dca900deb4186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862200ce5fe24887" /><Relationship Type="http://schemas.openxmlformats.org/officeDocument/2006/relationships/notesMaster" Target="/ppt/notesMasters/notesMaster1.xml" Id="Rc195739b5d59458a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37cca03b261241b3" /><Relationship Type="http://schemas.openxmlformats.org/officeDocument/2006/relationships/notesMaster" Target="/ppt/notesMasters/notesMaster1.xml" Id="Rec6d2a115f9549a0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109193c7dbe14c21" /><Relationship Type="http://schemas.openxmlformats.org/officeDocument/2006/relationships/notesMaster" Target="/ppt/notesMasters/notesMaster1.xml" Id="R4ec8c4ebfc5846c0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2dbece96ea034c5d" /><Relationship Type="http://schemas.openxmlformats.org/officeDocument/2006/relationships/notesMaster" Target="/ppt/notesMasters/notesMaster1.xml" Id="R809b843e7e4e4fe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Accueil. Former les équipes pendant l'affichage de cette diapositive.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Prévoir une feuille de score. Les corrections suivent immédiatement chaque question.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Durée totale cible : quatre heures, avec une pause de quinze minutes avant ou pendant le défi final.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Insister sur l'explication. Les étudiants rapides ne doivent pas répondre à la place du groupe.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Transition vers la manche 1. Durée cible : 15 minutes.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Réponse attendue : Faux</a:t>
            </a:r>
          </a:p>
          <a:p xmlns:a="http://schemas.openxmlformats.org/drawingml/2006/main">
            <a:r>
              <a:t>HTML décrit la structure et le sens du contenu. Il ne contient pas, à lui seul, des instructions algorithmiques.</a:t>
            </a:r>
          </a:p>
          <a:p xmlns:a="http://schemas.openxmlformats.org/drawingml/2006/main">
            <a:r>
              <a:t>Ne pas révéler la correction avant le vote.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Correction : Faux</a:t>
            </a:r>
          </a:p>
          <a:p xmlns:a="http://schemas.openxmlformats.org/drawingml/2006/main">
            <a:r>
              <a:t>HTML décrit la structure et le sens du contenu. Il ne contient pas, à lui seul, des instructions algorithmiques.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Réponse attendue : Faux</a:t>
            </a:r>
          </a:p>
          <a:p xmlns:a="http://schemas.openxmlformats.org/drawingml/2006/main">
            <a:r>
              <a:t>title nomme l'onglet et le document. Le titre principal visible appartient généralement à h1.</a:t>
            </a:r>
          </a:p>
          <a:p xmlns:a="http://schemas.openxmlformats.org/drawingml/2006/main">
            <a:r>
              <a:t>Ne pas révéler la correction avant le vote.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Correction : Faux</a:t>
            </a:r>
          </a:p>
          <a:p xmlns:a="http://schemas.openxmlformats.org/drawingml/2006/main">
            <a:r>
              <a:t>title nomme l'onglet et le document. Le titre principal visible appartient généralement à h1.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Réponse attendue : Vrai</a:t>
            </a:r>
          </a:p>
          <a:p xmlns:a="http://schemas.openxmlformats.org/drawingml/2006/main">
            <a:r>
              <a:t>ol représente une liste ordonnée. Pour une collection sans ordre logique, ul convient mieux.</a:t>
            </a:r>
          </a:p>
          <a:p xmlns:a="http://schemas.openxmlformats.org/drawingml/2006/main">
            <a:r>
              <a:t>Ne pas révéler la correction avant le vote.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Correction : Vrai</a:t>
            </a:r>
          </a:p>
          <a:p xmlns:a="http://schemas.openxmlformats.org/drawingml/2006/main">
            <a:r>
              <a:t>ol représente une liste ordonnée. Pour une collection sans ordre logique, ul convient mieux.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Réponse attendue : Faux</a:t>
            </a:r>
          </a:p>
          <a:p xmlns:a="http://schemas.openxmlformats.org/drawingml/2006/main">
            <a:r>
              <a:t>Le commentaire reste dans le code source entre &lt;!-- et --&gt;. Il aide les personnes qui lisent le fichier.</a:t>
            </a:r>
          </a:p>
          <a:p xmlns:a="http://schemas.openxmlformats.org/drawingml/2006/main">
            <a:r>
              <a:t>Ne pas révéler la correction avant le vote.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Correction : Faux</a:t>
            </a:r>
          </a:p>
          <a:p xmlns:a="http://schemas.openxmlformats.org/drawingml/2006/main">
            <a:r>
              <a:t>Le commentaire reste dans le code source entre &lt;!-- et --&gt;. Il aide les personnes qui lisent le fichier.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Réponse attendue : Vrai</a:t>
            </a:r>
          </a:p>
          <a:p xmlns:a="http://schemas.openxmlformats.org/drawingml/2006/main">
            <a:r>
              <a:t>Le navigateur sait afficher le document HTML seul. Le CSS change la présentation et JavaScript ajoute des comportements.</a:t>
            </a:r>
          </a:p>
          <a:p xmlns:a="http://schemas.openxmlformats.org/drawingml/2006/main">
            <a:r>
              <a:t>Ne pas révéler la correction avant le vote.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Correction : Vrai</a:t>
            </a:r>
          </a:p>
          <a:p xmlns:a="http://schemas.openxmlformats.org/drawingml/2006/main">
            <a:r>
              <a:t>Le navigateur sait afficher le document HTML seul. Le CSS change la présentation et JavaScript ajoute des comportements.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Transition vers la manche 2. Durée cible : 20 minutes.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Réponse attendue : A. html, puis head et body</a:t>
            </a:r>
          </a:p>
          <a:p xmlns:a="http://schemas.openxmlformats.org/drawingml/2006/main">
            <a:r>
              <a:t>html contient le document. head porte les informations sur la page. body contient ce que le visiteur consulte.</a:t>
            </a:r>
          </a:p>
          <a:p xmlns:a="http://schemas.openxmlformats.org/drawingml/2006/main">
            <a:r>
              <a:t>Ne pas révéler la correction avant le vote.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Correction : A. html, puis head et body</a:t>
            </a:r>
          </a:p>
          <a:p xmlns:a="http://schemas.openxmlformats.org/drawingml/2006/main">
            <a:r>
              <a:t>html contient le document. head porte les informations sur la page. body contient ce que le visiteur consulte.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Réponse attendue : B. &lt;h1&gt;</a:t>
            </a:r>
          </a:p>
          <a:p xmlns:a="http://schemas.openxmlformats.org/drawingml/2006/main">
            <a:r>
              <a:t>title nomme l'onglet. h1 annonce le sujet principal du contenu visible.</a:t>
            </a:r>
          </a:p>
          <a:p xmlns:a="http://schemas.openxmlformats.org/drawingml/2006/main">
            <a:r>
              <a:t>Ne pas révéler la correction avant le vote.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Correction : B. &lt;h1&gt;</a:t>
            </a:r>
          </a:p>
          <a:p xmlns:a="http://schemas.openxmlformats.org/drawingml/2006/main">
            <a:r>
              <a:t>title nomme l'onglet. h1 annonce le sujet principal du contenu visible.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Réponse attendue : A. strong pour l'importance, em pour l'emphase</a:t>
            </a:r>
          </a:p>
          <a:p xmlns:a="http://schemas.openxmlformats.org/drawingml/2006/main">
            <a:r>
              <a:t>Le choix repose sur le sens du passage, pas sur son apparence visuelle.</a:t>
            </a:r>
          </a:p>
          <a:p xmlns:a="http://schemas.openxmlformats.org/drawingml/2006/main">
            <a:r>
              <a:t>Ne pas révéler la correction avant le vote.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Correction : A. strong pour l'importance, em pour l'emphase</a:t>
            </a:r>
          </a:p>
          <a:p xmlns:a="http://schemas.openxmlformats.org/drawingml/2006/main">
            <a:r>
              <a:t>Le choix repose sur le sens du passage, pas sur son apparence visuelle.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Réponse attendue : C. Le lien utilise a et l'attribut href</a:t>
            </a:r>
          </a:p>
          <a:p xmlns:a="http://schemas.openxmlformats.org/drawingml/2006/main">
            <a:r>
              <a:t>Le texte du lien doit annoncer sa destination. Évitez « cliquez ici ».</a:t>
            </a:r>
          </a:p>
          <a:p xmlns:a="http://schemas.openxmlformats.org/drawingml/2006/main">
            <a:r>
              <a:t>Ne pas révéler la correction avant le vote.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Correction : C. Le lien utilise a et l'attribut href</a:t>
            </a:r>
          </a:p>
          <a:p xmlns:a="http://schemas.openxmlformats.org/drawingml/2006/main">
            <a:r>
              <a:t>Le texte du lien doit annoncer sa destination. Évitez « cliquez ici ».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Réponse attendue : B. src donne le chemin et alt décrit l'image</a:t>
            </a:r>
          </a:p>
          <a:p xmlns:a="http://schemas.openxmlformats.org/drawingml/2006/main">
            <a:r>
              <a:t>L'image appartient au dossier du projet. Le texte alternatif dépend du rôle de l'image.</a:t>
            </a:r>
          </a:p>
          <a:p xmlns:a="http://schemas.openxmlformats.org/drawingml/2006/main">
            <a:r>
              <a:t>Ne pas révéler la correction avant le vote.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Correction : B. src donne le chemin et alt décrit l'image</a:t>
            </a:r>
          </a:p>
          <a:p xmlns:a="http://schemas.openxmlformats.org/drawingml/2006/main">
            <a:r>
              <a:t>L'image appartient au dossier du projet. Le texte alternatif dépend du rôle de l'image.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Réponse attendue : A. &lt;nav&gt;</a:t>
            </a:r>
          </a:p>
          <a:p xmlns:a="http://schemas.openxmlformats.org/drawingml/2006/main">
            <a:r>
              <a:t>nav représente une zone de navigation. Les destinations restent des éléments a avec href.</a:t>
            </a:r>
          </a:p>
          <a:p xmlns:a="http://schemas.openxmlformats.org/drawingml/2006/main">
            <a:r>
              <a:t>Ne pas révéler la correction avant le vote.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Correction : A. &lt;nav&gt;</a:t>
            </a:r>
          </a:p>
          <a:p xmlns:a="http://schemas.openxmlformats.org/drawingml/2006/main">
            <a:r>
              <a:t>nav représente une zone de navigation. Les destinations restent des éléments a avec href.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Réponse attendue : C. figure et figcaption</a:t>
            </a:r>
          </a:p>
          <a:p xmlns:a="http://schemas.openxmlformats.org/drawingml/2006/main">
            <a:r>
              <a:t>figure contient un contenu autonome. figcaption lui associe une légende visible.</a:t>
            </a:r>
          </a:p>
          <a:p xmlns:a="http://schemas.openxmlformats.org/drawingml/2006/main">
            <a:r>
              <a:t>Ne pas révéler la correction avant le vote.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Correction : C. figure et figcaption</a:t>
            </a:r>
          </a:p>
          <a:p xmlns:a="http://schemas.openxmlformats.org/drawingml/2006/main">
            <a:r>
              <a:t>figure contient un contenu autonome. figcaption lui associe une légende visible.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Transition vers la manche 3. Durée cible : 35 minutes.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Réponse attendue : Le h1 doit se fermer avec &lt;/h1&gt;</a:t>
            </a:r>
          </a:p>
          <a:p xmlns:a="http://schemas.openxmlformats.org/drawingml/2006/main">
            <a:r>
              <a:t>Les noms des balises ouvrantes et fermantes doivent correspondre.</a:t>
            </a:r>
          </a:p>
          <a:p xmlns:a="http://schemas.openxmlformats.org/drawingml/2006/main">
            <a:r>
              <a:t>Ne pas révéler la correction avant le vote.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Correction : Le h1 doit se fermer avec &lt;/h1&gt;</a:t>
            </a:r>
          </a:p>
          <a:p xmlns:a="http://schemas.openxmlformats.org/drawingml/2006/main">
            <a:r>
              <a:t>Les noms des balises ouvrantes et fermantes doivent correspondre.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Réponse attendue : Le guillemet fermant de href manque</a:t>
            </a:r>
          </a:p>
          <a:p xmlns:a="http://schemas.openxmlformats.org/drawingml/2006/main">
            <a:r>
              <a:t>L'attribut href doit recevoir une valeur correctement délimitée.</a:t>
            </a:r>
          </a:p>
          <a:p xmlns:a="http://schemas.openxmlformats.org/drawingml/2006/main">
            <a:r>
              <a:t>Ne pas révéler la correction avant le vote.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Correction : Le guillemet fermant de href manque</a:t>
            </a:r>
          </a:p>
          <a:p xmlns:a="http://schemas.openxmlformats.org/drawingml/2006/main">
            <a:r>
              <a:t>L'attribut href doit recevoir une valeur correctement délimitée.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Réponse attendue : Le chemin oublie le dossier images</a:t>
            </a:r>
          </a:p>
          <a:p xmlns:a="http://schemas.openxmlformats.org/drawingml/2006/main">
            <a:r>
              <a:t>Le chemin se lit depuis l'emplacement du fichier HTML actuellement ouvert.</a:t>
            </a:r>
          </a:p>
          <a:p xmlns:a="http://schemas.openxmlformats.org/drawingml/2006/main">
            <a:r>
              <a:t>Ne pas révéler la correction avant le vote.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Correction : Le chemin oublie le dossier images</a:t>
            </a:r>
          </a:p>
          <a:p xmlns:a="http://schemas.openxmlformats.org/drawingml/2006/main">
            <a:r>
              <a:t>Le chemin se lit depuis l'emplacement du fichier HTML actuellement ouvert.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Réponse attendue : strong doit se fermer avant le paragraphe</a:t>
            </a:r>
          </a:p>
          <a:p xmlns:a="http://schemas.openxmlformats.org/drawingml/2006/main">
            <a:r>
              <a:t>Le dernier élément ouvert se ferme en premier.</a:t>
            </a:r>
          </a:p>
          <a:p xmlns:a="http://schemas.openxmlformats.org/drawingml/2006/main">
            <a:r>
              <a:t>Ne pas révéler la correction avant le vote.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Correction : strong doit se fermer avant le paragraphe</a:t>
            </a:r>
          </a:p>
          <a:p xmlns:a="http://schemas.openxmlformats.org/drawingml/2006/main">
            <a:r>
              <a:t>Le dernier élément ouvert se ferme en premier.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Réponse attendue : La liste ouverte avec ul doit se fermer avec &lt;/ul&gt;</a:t>
            </a:r>
          </a:p>
          <a:p xmlns:a="http://schemas.openxmlformats.org/drawingml/2006/main">
            <a:r>
              <a:t>ul représente ici un inventaire sans ordre imposé.</a:t>
            </a:r>
          </a:p>
          <a:p xmlns:a="http://schemas.openxmlformats.org/drawingml/2006/main">
            <a:r>
              <a:t>Ne pas révéler la correction avant le vote.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Correction : La liste ouverte avec ul doit se fermer avec &lt;/ul&gt;</a:t>
            </a:r>
          </a:p>
          <a:p xmlns:a="http://schemas.openxmlformats.org/drawingml/2006/main">
            <a:r>
              <a:t>ul représente ici un inventaire sans ordre imposé.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Réponse attendue : for et id doivent avoir exactement la même valeur</a:t>
            </a:r>
          </a:p>
          <a:p xmlns:a="http://schemas.openxmlformats.org/drawingml/2006/main">
            <a:r>
              <a:t>Cette association aide tout le monde, notamment les personnes qui naviguent au clavier ou avec un lecteur d'écran.</a:t>
            </a:r>
          </a:p>
          <a:p xmlns:a="http://schemas.openxmlformats.org/drawingml/2006/main">
            <a:r>
              <a:t>Ne pas révéler la correction avant le vote.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Correction : for et id doivent avoir exactement la même valeur</a:t>
            </a:r>
          </a:p>
          <a:p xmlns:a="http://schemas.openxmlformats.org/drawingml/2006/main">
            <a:r>
              <a:t>Cette association aide tout le monde, notamment les personnes qui naviguent au clavier ou avec un lecteur d'écran.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Réponse attendue : La cellule du score manque</a:t>
            </a:r>
          </a:p>
          <a:p xmlns:a="http://schemas.openxmlformats.org/drawingml/2006/main">
            <a:r>
              <a:t>Les lignes doivent conserver la structure logique annoncée par les en-têtes.</a:t>
            </a:r>
          </a:p>
          <a:p xmlns:a="http://schemas.openxmlformats.org/drawingml/2006/main">
            <a:r>
              <a:t>Ne pas révéler la correction avant le vote.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Correction : La cellule du score manque</a:t>
            </a:r>
          </a:p>
          <a:p xmlns:a="http://schemas.openxmlformats.org/drawingml/2006/main">
            <a:r>
              <a:t>Les lignes doivent conserver la structure logique annoncée par les en-têtes.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Transition vers la manche 4. Durée cible : 20 minutes.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Réponse attendue : href="contact.html"</a:t>
            </a:r>
          </a:p>
          <a:p xmlns:a="http://schemas.openxmlformats.org/drawingml/2006/main">
            <a:r>
              <a:t>Les deux fichiers sont voisins. Aucun dossier ne sépare la page de sa destination.</a:t>
            </a:r>
          </a:p>
          <a:p xmlns:a="http://schemas.openxmlformats.org/drawingml/2006/main">
            <a:r>
              <a:t>Ne pas révéler la correction avant le vote.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Correction : href="contact.html"</a:t>
            </a:r>
          </a:p>
          <a:p xmlns:a="http://schemas.openxmlformats.org/drawingml/2006/main">
            <a:r>
              <a:t>Les deux fichiers sont voisins. Aucun dossier ne sépare la page de sa destination.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Réponse attendue : src="images/portrait.jpg"</a:t>
            </a:r>
          </a:p>
          <a:p xmlns:a="http://schemas.openxmlformats.org/drawingml/2006/main">
            <a:r>
              <a:t>Depuis index.html, on entre dans le dossier images avant d'atteindre le fichier.</a:t>
            </a:r>
          </a:p>
          <a:p xmlns:a="http://schemas.openxmlformats.org/drawingml/2006/main">
            <a:r>
              <a:t>Ne pas révéler la correction avant le vote.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Correction : src="images/portrait.jpg"</a:t>
            </a:r>
          </a:p>
          <a:p xmlns:a="http://schemas.openxmlformats.org/drawingml/2006/main">
            <a:r>
              <a:t>Depuis index.html, on entre dans le dossier images avant d'atteindre le fichier.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Réponse attendue : href="../index.html"</a:t>
            </a:r>
          </a:p>
          <a:p xmlns:a="http://schemas.openxmlformats.org/drawingml/2006/main">
            <a:r>
              <a:t>Deux points remontent du dossier pages vers son dossier parent.</a:t>
            </a:r>
          </a:p>
          <a:p xmlns:a="http://schemas.openxmlformats.org/drawingml/2006/main">
            <a:r>
              <a:t>Ne pas révéler la correction avant le vote.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Correction : href="../index.html"</a:t>
            </a:r>
          </a:p>
          <a:p xmlns:a="http://schemas.openxmlformats.org/drawingml/2006/main">
            <a:r>
              <a:t>Deux points remontent du dossier pages vers son dossier parent.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Réponse attendue : href="pages/profil.html"</a:t>
            </a:r>
          </a:p>
          <a:p xmlns:a="http://schemas.openxmlformats.org/drawingml/2006/main">
            <a:r>
              <a:t>On entre dans pages, puis on cible profil.html.</a:t>
            </a:r>
          </a:p>
          <a:p xmlns:a="http://schemas.openxmlformats.org/drawingml/2006/main">
            <a:r>
              <a:t>Ne pas révéler la correction avant le vote.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Correction : href="pages/profil.html"</a:t>
            </a:r>
          </a:p>
          <a:p xmlns:a="http://schemas.openxmlformats.org/drawingml/2006/main">
            <a:r>
              <a:t>On entre dans pages, puis on cible profil.html.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Réponse attendue : src="../images/fusee.jpg"</a:t>
            </a:r>
          </a:p>
          <a:p xmlns:a="http://schemas.openxmlformats.org/drawingml/2006/main">
            <a:r>
              <a:t>On remonte vers site, puis on entre dans images.</a:t>
            </a:r>
          </a:p>
          <a:p xmlns:a="http://schemas.openxmlformats.org/drawingml/2006/main">
            <a:r>
              <a:t>Ne pas révéler la correction avant le vote.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Correction : src="../images/fusee.jpg"</a:t>
            </a:r>
          </a:p>
          <a:p xmlns:a="http://schemas.openxmlformats.org/drawingml/2006/main">
            <a:r>
              <a:t>On remonte vers site, puis on entre dans images.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Transition vers la manche 5. Durée cible : 20 minutes.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Réponse attendue : &lt;nav&gt;</a:t>
            </a:r>
          </a:p>
          <a:p xmlns:a="http://schemas.openxmlformats.org/drawingml/2006/main">
            <a:r>
              <a:t>nav représente une section de navigation. Elle contient généralement plusieurs liens a.</a:t>
            </a:r>
          </a:p>
          <a:p xmlns:a="http://schemas.openxmlformats.org/drawingml/2006/main">
            <a:r>
              <a:t>Ne pas révéler la correction avant le vote.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Correction : &lt;nav&gt;</a:t>
            </a:r>
          </a:p>
          <a:p xmlns:a="http://schemas.openxmlformats.org/drawingml/2006/main">
            <a:r>
              <a:t>nav représente une section de navigation. Elle contient généralement plusieurs liens 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Réponse attendue : &lt;article&gt;</a:t>
            </a:r>
          </a:p>
          <a:p xmlns:a="http://schemas.openxmlformats.org/drawingml/2006/main">
            <a:r>
              <a:t>article convient à un contenu autonome. section organise une partie thématique de la page.</a:t>
            </a:r>
          </a:p>
          <a:p xmlns:a="http://schemas.openxmlformats.org/drawingml/2006/main">
            <a:r>
              <a:t>Ne pas révéler la correction avant le vote.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Correction : &lt;article&gt;</a:t>
            </a:r>
          </a:p>
          <a:p xmlns:a="http://schemas.openxmlformats.org/drawingml/2006/main">
            <a:r>
              <a:t>article convient à un contenu autonome. section organise une partie thématique de la page.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Réponse attendue : &lt;figure&gt; et &lt;figcaption&gt;</a:t>
            </a:r>
          </a:p>
          <a:p xmlns:a="http://schemas.openxmlformats.org/drawingml/2006/main">
            <a:r>
              <a:t>La légende visible et le texte alternatif n'ont pas toujours le même rôle.</a:t>
            </a:r>
          </a:p>
          <a:p xmlns:a="http://schemas.openxmlformats.org/drawingml/2006/main">
            <a:r>
              <a:t>Ne pas révéler la correction avant le vote.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Correction : &lt;figure&gt; et &lt;figcaption&gt;</a:t>
            </a:r>
          </a:p>
          <a:p xmlns:a="http://schemas.openxmlformats.org/drawingml/2006/main">
            <a:r>
              <a:t>La légende visible et le texte alternatif n'ont pas toujours le même rôle.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Réponse attendue : &lt;dl&gt;, &lt;dt&gt; et &lt;dd&gt;</a:t>
            </a:r>
          </a:p>
          <a:p xmlns:a="http://schemas.openxmlformats.org/drawingml/2006/main">
            <a:r>
              <a:t>dl contient la liste de descriptions, dt le terme et dd sa description.</a:t>
            </a:r>
          </a:p>
          <a:p xmlns:a="http://schemas.openxmlformats.org/drawingml/2006/main">
            <a:r>
              <a:t>Ne pas révéler la correction avant le vote.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Correction : &lt;dl&gt;, &lt;dt&gt; et &lt;dd&gt;</a:t>
            </a:r>
          </a:p>
          <a:p xmlns:a="http://schemas.openxmlformats.org/drawingml/2006/main">
            <a:r>
              <a:t>dl contient la liste de descriptions, dt le terme et dd sa description.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Réponse attendue : &lt;details&gt; et &lt;summary&gt;</a:t>
            </a:r>
          </a:p>
          <a:p xmlns:a="http://schemas.openxmlformats.org/drawingml/2006/main">
            <a:r>
              <a:t>summary annonce la question ou le résumé et se place dans details.</a:t>
            </a:r>
          </a:p>
          <a:p xmlns:a="http://schemas.openxmlformats.org/drawingml/2006/main">
            <a:r>
              <a:t>Ne pas révéler la correction avant le vote.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Correction : &lt;details&gt; et &lt;summary&gt;</a:t>
            </a:r>
          </a:p>
          <a:p xmlns:a="http://schemas.openxmlformats.org/drawingml/2006/main">
            <a:r>
              <a:t>summary annonce la question ou le résumé et se place dans details.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Réponse attendue : form, fieldset, legend et label</a:t>
            </a:r>
          </a:p>
          <a:p xmlns:a="http://schemas.openxmlformats.org/drawingml/2006/main">
            <a:r>
              <a:t>fieldset regroupe les contrôles, legend nomme le groupe et label désigne un champ grâce à for et id.</a:t>
            </a:r>
          </a:p>
          <a:p xmlns:a="http://schemas.openxmlformats.org/drawingml/2006/main">
            <a:r>
              <a:t>Ne pas révéler la correction avant le vote.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Correction : form, fieldset, legend et label</a:t>
            </a:r>
          </a:p>
          <a:p xmlns:a="http://schemas.openxmlformats.org/drawingml/2006/main">
            <a:r>
              <a:t>fieldset regroupe les contrôles, legend nomme le groupe et label désigne un champ grâce à for et id.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Transition vers la manche 6. Durée cible : 100 minutes.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Former ou conserver les équipes. Durée de production conseillée : 60 à 70 minutes.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Chaque équipe choisit un seul univers. Autoriser un sujet personnel s'il respecte les mêmes contraintes.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Accorder cinq minutes au plan. Refuser le démarrage du code tant que les chemins ne sont pas anticipés.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 formulaire peut rester sans traitement. Les images peuvent être des SVG simples fournis ou des ressources autorisées.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Révéler cette diapositive après environ 30 minutes. Choisir une seule contrainte par équipe.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Prévoir 12 minutes de test puis 8 minutes de correction par les auteurs.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Chaque étudiant dispose d'une voix par catégorie. Interdire de voter pour sa propre équipe.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Laisser cette diapositive affichée pendant les cinq dernières minutes de production.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Ticket de sortie individuel. Demander trois phrases courtes dans bilan.txt.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49b01beaf5401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ad020dc97df4d44" /><Relationship Type="http://schemas.openxmlformats.org/officeDocument/2006/relationships/slideLayout" Target="/ppt/slideLayouts/slideLayout1.xml" Id="Rbf292a01411a4e1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f292a01411a4e1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7306c85d1f4e6c" /><Relationship Type="http://schemas.openxmlformats.org/officeDocument/2006/relationships/notesSlide" Target="/ppt/notesSlides/notesSlide1.xml" Id="R8ed5b3349b464a6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3a7039a714423f" /><Relationship Type="http://schemas.openxmlformats.org/officeDocument/2006/relationships/notesSlide" Target="/ppt/notesSlides/notesSlide2.xml" Id="R44df4452a3f1425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06ea6f4a3d43e1" /><Relationship Type="http://schemas.openxmlformats.org/officeDocument/2006/relationships/notesSlide" Target="/ppt/notesSlides/notesSlide3.xml" Id="R6b4fb2b98b074f4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00298195294f26" /><Relationship Type="http://schemas.openxmlformats.org/officeDocument/2006/relationships/notesSlide" Target="/ppt/notesSlides/notesSlide4.xml" Id="R1fd463655a1f427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b971e2ccba4d82" /><Relationship Type="http://schemas.openxmlformats.org/officeDocument/2006/relationships/notesSlide" Target="/ppt/notesSlides/notesSlide5.xml" Id="R62af05d2e39642e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6f482193a24507" /><Relationship Type="http://schemas.openxmlformats.org/officeDocument/2006/relationships/notesSlide" Target="/ppt/notesSlides/notesSlide6.xml" Id="Rf416b05c0bda44a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15a37bf0474b64" /><Relationship Type="http://schemas.openxmlformats.org/officeDocument/2006/relationships/notesSlide" Target="/ppt/notesSlides/notesSlide7.xml" Id="R901cbf16d41e443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cc7e62838e4a31" /><Relationship Type="http://schemas.openxmlformats.org/officeDocument/2006/relationships/notesSlide" Target="/ppt/notesSlides/notesSlide8.xml" Id="R0eaedf3ccf894ab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769d737d3e4c2f" /><Relationship Type="http://schemas.openxmlformats.org/officeDocument/2006/relationships/notesSlide" Target="/ppt/notesSlides/notesSlide9.xml" Id="R523991d7dda045b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0956f5ea6b4fbe" /><Relationship Type="http://schemas.openxmlformats.org/officeDocument/2006/relationships/notesSlide" Target="/ppt/notesSlides/notesSlide10.xml" Id="R7f3d77f33622464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d7a6485b8344f9" /><Relationship Type="http://schemas.openxmlformats.org/officeDocument/2006/relationships/notesSlide" Target="/ppt/notesSlides/notesSlide11.xml" Id="R9435de972cdd4ff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9ea502de7f444c" /><Relationship Type="http://schemas.openxmlformats.org/officeDocument/2006/relationships/notesSlide" Target="/ppt/notesSlides/notesSlide12.xml" Id="R00dd8c54495949e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481cf05ff74d0e" /><Relationship Type="http://schemas.openxmlformats.org/officeDocument/2006/relationships/notesSlide" Target="/ppt/notesSlides/notesSlide13.xml" Id="R6270551b4d404eb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e26f7e57bc4ac5" /><Relationship Type="http://schemas.openxmlformats.org/officeDocument/2006/relationships/notesSlide" Target="/ppt/notesSlides/notesSlide14.xml" Id="Rdff29e1bc75e443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f01ec003544b00" /><Relationship Type="http://schemas.openxmlformats.org/officeDocument/2006/relationships/notesSlide" Target="/ppt/notesSlides/notesSlide15.xml" Id="R315b78e09397429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3077d9a30f4399" /><Relationship Type="http://schemas.openxmlformats.org/officeDocument/2006/relationships/notesSlide" Target="/ppt/notesSlides/notesSlide16.xml" Id="R4cca05c49cb84a1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0c8acaf3d54ded" /><Relationship Type="http://schemas.openxmlformats.org/officeDocument/2006/relationships/notesSlide" Target="/ppt/notesSlides/notesSlide17.xml" Id="R9b1c8dd819484e8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8e3a3c741d4b54" /><Relationship Type="http://schemas.openxmlformats.org/officeDocument/2006/relationships/notesSlide" Target="/ppt/notesSlides/notesSlide18.xml" Id="R93a547c18d874c7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cf661b4e9f4bed" /><Relationship Type="http://schemas.openxmlformats.org/officeDocument/2006/relationships/notesSlide" Target="/ppt/notesSlides/notesSlide19.xml" Id="Rf5437dad83b4413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0dccc265d9465c" /><Relationship Type="http://schemas.openxmlformats.org/officeDocument/2006/relationships/notesSlide" Target="/ppt/notesSlides/notesSlide20.xml" Id="R5e9d547d729b4f1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0f6e5efab54e65" /><Relationship Type="http://schemas.openxmlformats.org/officeDocument/2006/relationships/notesSlide" Target="/ppt/notesSlides/notesSlide21.xml" Id="R691cb168bfff4a7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f92bb314b14d23" /><Relationship Type="http://schemas.openxmlformats.org/officeDocument/2006/relationships/notesSlide" Target="/ppt/notesSlides/notesSlide22.xml" Id="R99df01986d75464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9cfb838f264f6a" /><Relationship Type="http://schemas.openxmlformats.org/officeDocument/2006/relationships/notesSlide" Target="/ppt/notesSlides/notesSlide23.xml" Id="R9abf3663d48242b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573f4d562d4ed2" /><Relationship Type="http://schemas.openxmlformats.org/officeDocument/2006/relationships/notesSlide" Target="/ppt/notesSlides/notesSlide24.xml" Id="Rfe38d9cef098476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d7036ae53e4022" /><Relationship Type="http://schemas.openxmlformats.org/officeDocument/2006/relationships/notesSlide" Target="/ppt/notesSlides/notesSlide25.xml" Id="R3dc29a763531499c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5a8e22f7134920" /><Relationship Type="http://schemas.openxmlformats.org/officeDocument/2006/relationships/notesSlide" Target="/ppt/notesSlides/notesSlide26.xml" Id="Rcbaa0d84343e48b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384809676d4f93" /><Relationship Type="http://schemas.openxmlformats.org/officeDocument/2006/relationships/notesSlide" Target="/ppt/notesSlides/notesSlide27.xml" Id="R50a65547ef734913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aad44dfb024199" /><Relationship Type="http://schemas.openxmlformats.org/officeDocument/2006/relationships/notesSlide" Target="/ppt/notesSlides/notesSlide28.xml" Id="R5ca9d164847a496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d817271b3b4d29" /><Relationship Type="http://schemas.openxmlformats.org/officeDocument/2006/relationships/notesSlide" Target="/ppt/notesSlides/notesSlide29.xml" Id="R7e0efbab03b74fae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c88ec95f6b4fb2" /><Relationship Type="http://schemas.openxmlformats.org/officeDocument/2006/relationships/notesSlide" Target="/ppt/notesSlides/notesSlide30.xml" Id="R3b9fd2d67e7049a1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548bb827cf4fb4" /><Relationship Type="http://schemas.openxmlformats.org/officeDocument/2006/relationships/notesSlide" Target="/ppt/notesSlides/notesSlide31.xml" Id="R15edb07e332544c2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e1ba7fcbb44ae3" /><Relationship Type="http://schemas.openxmlformats.org/officeDocument/2006/relationships/notesSlide" Target="/ppt/notesSlides/notesSlide32.xml" Id="Rffc107c01aa44230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49b8706602483f" /><Relationship Type="http://schemas.openxmlformats.org/officeDocument/2006/relationships/notesSlide" Target="/ppt/notesSlides/notesSlide33.xml" Id="Rc9cc7fd417294306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5592da3a2b4ef9" /><Relationship Type="http://schemas.openxmlformats.org/officeDocument/2006/relationships/notesSlide" Target="/ppt/notesSlides/notesSlide34.xml" Id="R2663f9a4912d42d8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4ca30afa174637" /><Relationship Type="http://schemas.openxmlformats.org/officeDocument/2006/relationships/notesSlide" Target="/ppt/notesSlides/notesSlide35.xml" Id="R8b29dab97dcc4415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cdbca2b96f45e8" /><Relationship Type="http://schemas.openxmlformats.org/officeDocument/2006/relationships/notesSlide" Target="/ppt/notesSlides/notesSlide36.xml" Id="Rc9bc244d133b4e9c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e42174557e476c" /><Relationship Type="http://schemas.openxmlformats.org/officeDocument/2006/relationships/notesSlide" Target="/ppt/notesSlides/notesSlide37.xml" Id="Rdc25bfbeb93f4d72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dd2d5c3d6a425d" /><Relationship Type="http://schemas.openxmlformats.org/officeDocument/2006/relationships/notesSlide" Target="/ppt/notesSlides/notesSlide38.xml" Id="R4e81278a184a4c9c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31c97ba9de4aab" /><Relationship Type="http://schemas.openxmlformats.org/officeDocument/2006/relationships/notesSlide" Target="/ppt/notesSlides/notesSlide39.xml" Id="R94eda7ab97f44f60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e3901b5c6b4b88" /><Relationship Type="http://schemas.openxmlformats.org/officeDocument/2006/relationships/notesSlide" Target="/ppt/notesSlides/notesSlide40.xml" Id="R70182c4a763d4e29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bf5fb3f15944b3" /><Relationship Type="http://schemas.openxmlformats.org/officeDocument/2006/relationships/notesSlide" Target="/ppt/notesSlides/notesSlide41.xml" Id="Re90a2548b0114314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e5bda3498640b5" /><Relationship Type="http://schemas.openxmlformats.org/officeDocument/2006/relationships/notesSlide" Target="/ppt/notesSlides/notesSlide42.xml" Id="Rc9aeebdfce35455a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4ea153d7b44f83" /><Relationship Type="http://schemas.openxmlformats.org/officeDocument/2006/relationships/notesSlide" Target="/ppt/notesSlides/notesSlide43.xml" Id="R81be8286b60049eb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b007dedcf246c1" /><Relationship Type="http://schemas.openxmlformats.org/officeDocument/2006/relationships/notesSlide" Target="/ppt/notesSlides/notesSlide44.xml" Id="R4626327687ef475e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2add39b03a4cf7" /><Relationship Type="http://schemas.openxmlformats.org/officeDocument/2006/relationships/notesSlide" Target="/ppt/notesSlides/notesSlide45.xml" Id="Red950950be9c40a3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646fb390884409" /><Relationship Type="http://schemas.openxmlformats.org/officeDocument/2006/relationships/notesSlide" Target="/ppt/notesSlides/notesSlide46.xml" Id="Rc207d426736548b9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4b8e8bb757490d" /><Relationship Type="http://schemas.openxmlformats.org/officeDocument/2006/relationships/notesSlide" Target="/ppt/notesSlides/notesSlide47.xml" Id="Rc16a089f8d904fdc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018d242c28403e" /><Relationship Type="http://schemas.openxmlformats.org/officeDocument/2006/relationships/notesSlide" Target="/ppt/notesSlides/notesSlide48.xml" Id="R35daa98f9c904632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312c8c851c4645" /><Relationship Type="http://schemas.openxmlformats.org/officeDocument/2006/relationships/notesSlide" Target="/ppt/notesSlides/notesSlide49.xml" Id="R78ef4137bc3a4c91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4b22b4b2e645eb" /><Relationship Type="http://schemas.openxmlformats.org/officeDocument/2006/relationships/notesSlide" Target="/ppt/notesSlides/notesSlide50.xml" Id="R38d8221c8ced4e7e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6b0281e0474a02" /><Relationship Type="http://schemas.openxmlformats.org/officeDocument/2006/relationships/notesSlide" Target="/ppt/notesSlides/notesSlide51.xml" Id="Rdc479c6d436145de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757ac312974441" /><Relationship Type="http://schemas.openxmlformats.org/officeDocument/2006/relationships/notesSlide" Target="/ppt/notesSlides/notesSlide52.xml" Id="R19d4d5cb3a1240e3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58d023ef2b4c82" /><Relationship Type="http://schemas.openxmlformats.org/officeDocument/2006/relationships/notesSlide" Target="/ppt/notesSlides/notesSlide53.xml" Id="Rfdc3d8643c0540bf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676c0dfdcf4d23" /><Relationship Type="http://schemas.openxmlformats.org/officeDocument/2006/relationships/notesSlide" Target="/ppt/notesSlides/notesSlide54.xml" Id="R71926e0c087848f8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0f3d5704a14f0a" /><Relationship Type="http://schemas.openxmlformats.org/officeDocument/2006/relationships/notesSlide" Target="/ppt/notesSlides/notesSlide55.xml" Id="Rdcaef180ee244613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a89157cdf64a97" /><Relationship Type="http://schemas.openxmlformats.org/officeDocument/2006/relationships/notesSlide" Target="/ppt/notesSlides/notesSlide56.xml" Id="Re2a5cb324b8f44e1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631022d2914d4f" /><Relationship Type="http://schemas.openxmlformats.org/officeDocument/2006/relationships/notesSlide" Target="/ppt/notesSlides/notesSlide57.xml" Id="Rd592aad399124e4b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7d86841be6401d" /><Relationship Type="http://schemas.openxmlformats.org/officeDocument/2006/relationships/notesSlide" Target="/ppt/notesSlides/notesSlide58.xml" Id="R3427b96bb50543bd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c5aedb09b84ed3" /><Relationship Type="http://schemas.openxmlformats.org/officeDocument/2006/relationships/notesSlide" Target="/ppt/notesSlides/notesSlide59.xml" Id="R8dbde82b5f5549f6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964ce0c7574562" /><Relationship Type="http://schemas.openxmlformats.org/officeDocument/2006/relationships/notesSlide" Target="/ppt/notesSlides/notesSlide60.xml" Id="Rca481aaa356140a0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8cf323765e46e2" /><Relationship Type="http://schemas.openxmlformats.org/officeDocument/2006/relationships/notesSlide" Target="/ppt/notesSlides/notesSlide61.xml" Id="R2f20a3e18e50483b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43115a5b564c5c" /><Relationship Type="http://schemas.openxmlformats.org/officeDocument/2006/relationships/notesSlide" Target="/ppt/notesSlides/notesSlide62.xml" Id="R3709d2814fa04d66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d8c72f2cc54642" /><Relationship Type="http://schemas.openxmlformats.org/officeDocument/2006/relationships/notesSlide" Target="/ppt/notesSlides/notesSlide63.xml" Id="Rc07ed5a6f4fa49b6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7c5a24cdc4496d" /><Relationship Type="http://schemas.openxmlformats.org/officeDocument/2006/relationships/notesSlide" Target="/ppt/notesSlides/notesSlide64.xml" Id="Ree208e7857654a16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3b35a4d64b4eca" /><Relationship Type="http://schemas.openxmlformats.org/officeDocument/2006/relationships/notesSlide" Target="/ppt/notesSlides/notesSlide65.xml" Id="R063770fd0b4e48c4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f07b530fa04f3d" /><Relationship Type="http://schemas.openxmlformats.org/officeDocument/2006/relationships/notesSlide" Target="/ppt/notesSlides/notesSlide66.xml" Id="R56e215c5ce314718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31bc3d96e84ced" /><Relationship Type="http://schemas.openxmlformats.org/officeDocument/2006/relationships/notesSlide" Target="/ppt/notesSlides/notesSlide67.xml" Id="R8f23b5fbe20447b9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16ec7b96ce48fe" /><Relationship Type="http://schemas.openxmlformats.org/officeDocument/2006/relationships/notesSlide" Target="/ppt/notesSlides/notesSlide68.xml" Id="R58c4e7314b8841b5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afb42f5cfd441c" /><Relationship Type="http://schemas.openxmlformats.org/officeDocument/2006/relationships/notesSlide" Target="/ppt/notesSlides/notesSlide69.xml" Id="R9bf7624de0a74974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4de2638ad144e7" /><Relationship Type="http://schemas.openxmlformats.org/officeDocument/2006/relationships/notesSlide" Target="/ppt/notesSlides/notesSlide70.xml" Id="Rc8d27f56e24a4d12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19b4bb75794d8d" /><Relationship Type="http://schemas.openxmlformats.org/officeDocument/2006/relationships/notesSlide" Target="/ppt/notesSlides/notesSlide71.xml" Id="Rb460e5bb908b4d6e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bfc0067f1b4892" /><Relationship Type="http://schemas.openxmlformats.org/officeDocument/2006/relationships/notesSlide" Target="/ppt/notesSlides/notesSlide72.xml" Id="R5c31ebfb2aa0422c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374777f6084326" /><Relationship Type="http://schemas.openxmlformats.org/officeDocument/2006/relationships/notesSlide" Target="/ppt/notesSlides/notesSlide73.xml" Id="R183c8fa3af0c4e97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5b206826aa4ca9" /><Relationship Type="http://schemas.openxmlformats.org/officeDocument/2006/relationships/notesSlide" Target="/ppt/notesSlides/notesSlide74.xml" Id="R76eb749692974d12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d73156358047f5" /><Relationship Type="http://schemas.openxmlformats.org/officeDocument/2006/relationships/notesSlide" Target="/ppt/notesSlides/notesSlide75.xml" Id="Rb0b6c06f78e84bb6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fb167dce6346ac" /><Relationship Type="http://schemas.openxmlformats.org/officeDocument/2006/relationships/notesSlide" Target="/ppt/notesSlides/notesSlide76.xml" Id="R017e6cdd6f9b4213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4fd007d58b481e" /><Relationship Type="http://schemas.openxmlformats.org/officeDocument/2006/relationships/notesSlide" Target="/ppt/notesSlides/notesSlide77.xml" Id="Rf658f21b27db4d21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929e89f57e4beb" /><Relationship Type="http://schemas.openxmlformats.org/officeDocument/2006/relationships/notesSlide" Target="/ppt/notesSlides/notesSlide78.xml" Id="Rdc78362401f94e2a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434e2653974a86" /><Relationship Type="http://schemas.openxmlformats.org/officeDocument/2006/relationships/notesSlide" Target="/ppt/notesSlides/notesSlide79.xml" Id="R6f1f7ed3ad8d4de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8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15DD46-91BD-4258-B635-D2093C3E0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JEUDI · RÉVISION HTML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B7C1B8-CCB8-4A57-B555-D0D56CD39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846F6A-5671-4BA0-ABEB-6D0335803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La grande révision HTML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10CF91-F64B-41CF-B802-A378D139F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0"/>
            <a:ext cx="10001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rPr>
              <a:t>Une après-midi pour vérifier ce que nous savons réellement refaire, expliquer et réparer.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AA1813-5703-456E-B583-D9A6D3AB7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62625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Jeux · défis · quiz · construction en équipe</a:t>
            </a:r>
          </a:p>
        </p:txBody>
      </p:sp>
    </p:spTree>
    <p:extLst>
      <p:ext uri="{BB962C8B-B14F-4D97-AF65-F5344CB8AC3E}">
        <p14:creationId xmlns:p14="http://schemas.microsoft.com/office/powerpoint/2010/main" val="3589135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F25479-762E-4BF0-AB19-7BA51226D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AVANT DE COMMENCER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D03FE2-6858-4AF4-A17C-0EDFA4D37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90FE63-964E-4F00-BB1E-C1474C8D6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 i="0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Mode d'emploi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134F2E-BD6B-4BF0-ABB1-E5F1714B3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477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1. Former des équipes de trois ou quatre personnes.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 i="0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2. Répondre avec une ardoise, une feuille ou des cartons A, B, C et 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 i="0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3. Une réponse sans explication rapporte la moitié des points.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 i="0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4. L'enseignant peut passer une manche ou raccourcir le défi final.</a:t>
            </a:r>
          </a:p>
        </p:txBody>
      </p:sp>
    </p:spTree>
    <p:extLst>
      <p:ext uri="{BB962C8B-B14F-4D97-AF65-F5344CB8AC3E}">
        <p14:creationId xmlns:p14="http://schemas.microsoft.com/office/powerpoint/2010/main" val="9049434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428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193D44-7C1E-472A-9500-2A55B360E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PLANNING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D16C02-17AC-4D75-A1D9-B9EE6A9D6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673112-D959-427A-9763-F0AB30F2C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Le parcours de l'après-midi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300E8A-A3AD-4725-A781-29EBCDF67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477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rPr>
              <a:t>1. Échauffement vrai ou faux : 15 min.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rPr>
              <a:t>2. Quiz des fondamentaux : 20 min.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rPr>
              <a:t>3. Chasse aux bugs : 35 min.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rPr>
              <a:t>4. Labyrinthe des chemins : 20 min.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rPr>
              <a:t>5. Qui suis-je ? Les balises : 20 min.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rPr>
              <a:t>6. Défi final et recette croisée : 100 min, pause comprise.</a:t>
            </a:r>
          </a:p>
        </p:txBody>
      </p:sp>
    </p:spTree>
    <p:extLst>
      <p:ext uri="{BB962C8B-B14F-4D97-AF65-F5344CB8AC3E}">
        <p14:creationId xmlns:p14="http://schemas.microsoft.com/office/powerpoint/2010/main" val="3200059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FC0075-5DDF-4420-A5B2-5C7F062B6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ÉQUIPES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881287-8B98-4529-827E-386F15BC4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761F7F-A23E-4428-B8E3-F910AA0C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 i="0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Barème commun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F36965-BAAF-4882-ABD9-0E25FC125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477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1. Bonne réponse : 1 point.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 i="0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2. Bonne réponse et justification claire : 2 points.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 i="0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3. Bug corrigé sans expliquer sa cause : 1 point maximum.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 i="0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4. Défi final : jusqu'à 10 points après recette croisée.</a:t>
            </a:r>
          </a:p>
        </p:txBody>
      </p:sp>
    </p:spTree>
    <p:extLst>
      <p:ext uri="{BB962C8B-B14F-4D97-AF65-F5344CB8AC3E}">
        <p14:creationId xmlns:p14="http://schemas.microsoft.com/office/powerpoint/2010/main" val="4080454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428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5ED63B-3B80-4EE6-A582-509AF8622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MANCHE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37FD5E-ADD7-461A-9E31-2B40B5D1E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5DF6EF-35BE-480A-847E-A91FC1E1A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Échauffement : vrai ou faux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6D61AC-70CC-4DE4-AB4C-A2247D473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0"/>
            <a:ext cx="971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rPr>
              <a:t>Cinq affirmations pour remettre le navigateur, les fichiers et les balises en mémoire.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8C8385-2CD4-4C6F-ADED-B67244696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19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15 minutes</a:t>
            </a:r>
          </a:p>
        </p:txBody>
      </p:sp>
    </p:spTree>
    <p:extLst>
      <p:ext uri="{BB962C8B-B14F-4D97-AF65-F5344CB8AC3E}">
        <p14:creationId xmlns:p14="http://schemas.microsoft.com/office/powerpoint/2010/main" val="910909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4B21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B4811D-2291-4A66-BC84-217C6C8A3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VRAI OU FAUX · QUESTION 1/5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FDFE46-38A3-45C3-9D7F-AD8613F93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706744-8CBF-4A18-9A5E-EA3AB94DA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953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HTML est un langage de programmation.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1C5BD8-3573-49E5-AED0-B42DF7424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A.  Vrai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1CD93A-B56B-4D52-858D-6ED1C6305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B.  Faux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871465-4408-45DC-84BC-F0431D20A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53125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30 secondes · Réponse commune par équipe</a:t>
            </a:r>
          </a:p>
        </p:txBody>
      </p:sp>
    </p:spTree>
    <p:extLst>
      <p:ext uri="{BB962C8B-B14F-4D97-AF65-F5344CB8AC3E}">
        <p14:creationId xmlns:p14="http://schemas.microsoft.com/office/powerpoint/2010/main" val="13383131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3B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57370C-9057-4ECA-A394-D85899FC0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VRAI OU FAUX · CORRECTION 1/5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5ED6FA-81A7-43A8-8156-2C00C14C1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B70F0D-8F89-4DAD-8FFE-E25DC8445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Faux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B8B297-C9C8-4C41-ACA6-0ACF086DC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03822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rPr>
              <a:t>HTML décrit la structure et le sens du contenu. Il ne contient pas, à lui seul, des instructions algorithmiques.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28B7F3-7F80-48B8-B420-2215849DA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5312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+1 point pour une réponse exacte et expliquée</a:t>
            </a:r>
          </a:p>
        </p:txBody>
      </p:sp>
    </p:spTree>
    <p:extLst>
      <p:ext uri="{BB962C8B-B14F-4D97-AF65-F5344CB8AC3E}">
        <p14:creationId xmlns:p14="http://schemas.microsoft.com/office/powerpoint/2010/main" val="3510947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4B21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7D7741-B74D-4D46-A57C-E5F9C816E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VRAI OU FAUX · QUESTION 2/5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849569-9356-4E66-BF31-71C0F839E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F47A80-8F4E-4E40-BC92-075F0B92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953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Le contenu de &lt;title&gt; apparaît comme grand titre dans la page.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0B1098-AD63-4F1D-B941-F092AA92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A.  Vrai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430B36-E543-4A80-9CBF-4E6CB3ED2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B.  Faux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AAF231-28C3-444A-8AAC-06F84B354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53125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30 secondes · Réponse commune par équipe</a:t>
            </a:r>
          </a:p>
        </p:txBody>
      </p:sp>
    </p:spTree>
    <p:extLst>
      <p:ext uri="{BB962C8B-B14F-4D97-AF65-F5344CB8AC3E}">
        <p14:creationId xmlns:p14="http://schemas.microsoft.com/office/powerpoint/2010/main" val="171520063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3B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4CB6D1-B5FD-480C-A31D-87669B39A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VRAI OU FAUX · CORRECTION 2/5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CB5B45-AFA7-4FD8-A482-29800F41C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CFAE64-D068-47F8-804A-B1CC94741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Faux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81C9FF-6082-401A-90B4-D80CB7140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03822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rPr>
              <a:t>title nomme l'onglet et le document. Le titre principal visible appartient généralement à h1.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B1C4C7-BD53-4470-B684-8478DA170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5312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+1 point pour une réponse exacte et expliquée</a:t>
            </a:r>
          </a:p>
        </p:txBody>
      </p:sp>
    </p:spTree>
    <p:extLst>
      <p:ext uri="{BB962C8B-B14F-4D97-AF65-F5344CB8AC3E}">
        <p14:creationId xmlns:p14="http://schemas.microsoft.com/office/powerpoint/2010/main" val="152071969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4B21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4FCAF5-8D34-44DF-879C-21AAA88F6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VRAI OU FAUX · QUESTION 3/5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673726-3E5C-4532-A065-68F898C23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C9B011-C187-41C5-9D9B-58D1A1CD8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953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Une procédure dont l'ordre compte utilise normalement &lt;ol&gt;.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0EA950-46CE-4FAE-A7F2-D6B47D1DA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A.  Vrai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1B31E3-A7CD-4BB3-9216-938C051AD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B.  Faux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6BB946-455E-4716-8895-2296A3059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53125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30 secondes · Réponse commune par équipe</a:t>
            </a:r>
          </a:p>
        </p:txBody>
      </p:sp>
    </p:spTree>
    <p:extLst>
      <p:ext uri="{BB962C8B-B14F-4D97-AF65-F5344CB8AC3E}">
        <p14:creationId xmlns:p14="http://schemas.microsoft.com/office/powerpoint/2010/main" val="21630755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3B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2079A3-1630-4B7E-8220-66F3B8F52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VRAI OU FAUX · CORRECTION 3/5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DAFA15-B6FD-4959-B65B-AAA407272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B39A1D-98E1-42C5-914B-D13E2DE3F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Vrai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04656D-C5C5-4342-A16B-CD21B31B7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03822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rPr>
              <a:t>ol représente une liste ordonnée. Pour une collection sans ordre logique, ul convient mieux.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21AB98-328F-4190-AD14-0F4E6016D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5312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+1 point pour une réponse exacte et expliquée</a:t>
            </a:r>
          </a:p>
        </p:txBody>
      </p:sp>
    </p:spTree>
    <p:extLst>
      <p:ext uri="{BB962C8B-B14F-4D97-AF65-F5344CB8AC3E}">
        <p14:creationId xmlns:p14="http://schemas.microsoft.com/office/powerpoint/2010/main" val="97156579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4B21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6B779A-3A47-4EC4-952C-FE12864C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VRAI OU FAUX · QUESTION 4/5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FD7891-885F-4477-9432-0AA2034AA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4CD3B4-CAFB-491E-89F6-755AA5015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953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Un commentaire HTML apparaît dans la page si le visiteur recharge le navigateur.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43B132-E1B1-477F-A2A7-3C497C6A9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A.  Vrai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774D74-B2AC-4A8A-AEA9-3B85E87DD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B.  Faux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966F30-B56E-4468-B089-DEE310D8E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53125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30 secondes · Réponse commune par équipe</a:t>
            </a:r>
          </a:p>
        </p:txBody>
      </p:sp>
    </p:spTree>
    <p:extLst>
      <p:ext uri="{BB962C8B-B14F-4D97-AF65-F5344CB8AC3E}">
        <p14:creationId xmlns:p14="http://schemas.microsoft.com/office/powerpoint/2010/main" val="29086778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3B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BCE2F2-3317-493F-B60D-C7F40B9F7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VRAI OU FAUX · CORRECTION 4/5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5AF52E-35BF-4E02-94AE-B28D7CFB2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153A46-7392-4DAF-80DD-8ECE9FDC6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Faux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504BF8-3E6D-4B74-9E14-2EE67F363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03822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rPr>
              <a:t>Le commentaire reste dans le code source entre &lt;!-- et --&gt;. Il aide les personnes qui lisent le fichier.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57DA81-CD40-4D80-9C6A-1CE847396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5312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+1 point pour une réponse exacte et expliquée</a:t>
            </a:r>
          </a:p>
        </p:txBody>
      </p:sp>
    </p:spTree>
    <p:extLst>
      <p:ext uri="{BB962C8B-B14F-4D97-AF65-F5344CB8AC3E}">
        <p14:creationId xmlns:p14="http://schemas.microsoft.com/office/powerpoint/2010/main" val="78223002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4B21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6DC722-038D-42A7-AF30-EC6D18C40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VRAI OU FAUX · QUESTION 5/5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ED9771-9D45-4DA9-9AA5-D31CC1A06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C93DC4-D859-4874-A4EE-8F90BBA5D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953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Une page HTML correcte peut fonctionner sans CSS et sans JavaScript.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BEF855-D898-4B38-A32D-F5EACAC04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A.  Vrai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C5B9A5-9C29-4831-97DF-79E975152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B.  Faux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8075D0-70FF-4994-99CD-74C441BF5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53125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30 secondes · Réponse commune par équipe</a:t>
            </a:r>
          </a:p>
        </p:txBody>
      </p:sp>
    </p:spTree>
    <p:extLst>
      <p:ext uri="{BB962C8B-B14F-4D97-AF65-F5344CB8AC3E}">
        <p14:creationId xmlns:p14="http://schemas.microsoft.com/office/powerpoint/2010/main" val="168473259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3B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A7D44A-A26C-4167-9A78-D472FF2A6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VRAI OU FAUX · CORRECTION 5/5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6D4293-06FD-4889-B276-9005AEE7B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C49317-E6D7-4F44-9770-E37C10850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Vrai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658EAA-EF4B-4B05-82CE-64240AD2D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03822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rPr>
              <a:t>Le navigateur sait afficher le document HTML seul. Le CSS change la présentation et JavaScript ajoute des comportements.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61FA75-490B-4C78-999D-2E87A33EE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5312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+1 point pour une réponse exacte et expliquée</a:t>
            </a:r>
          </a:p>
        </p:txBody>
      </p:sp>
    </p:spTree>
    <p:extLst>
      <p:ext uri="{BB962C8B-B14F-4D97-AF65-F5344CB8AC3E}">
        <p14:creationId xmlns:p14="http://schemas.microsoft.com/office/powerpoint/2010/main" val="194612004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4B21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2247C3-6833-4172-B7EF-0BDBEE379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MANCHE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7C6B63-D02E-4898-8009-70C9E3362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0F8A39-10B2-4BF1-BE91-D7CF71FE1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Quiz des fondamentaux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6E1336-2586-461A-AEDF-E383BC2C0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0"/>
            <a:ext cx="971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rPr>
              <a:t>Vote A, B, C ou D. Une équipe différente justifie chaque correction.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9BB9E5-0FA9-4F68-A5C4-8BC838CE1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19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20 minutes</a:t>
            </a:r>
          </a:p>
        </p:txBody>
      </p:sp>
    </p:spTree>
    <p:extLst>
      <p:ext uri="{BB962C8B-B14F-4D97-AF65-F5344CB8AC3E}">
        <p14:creationId xmlns:p14="http://schemas.microsoft.com/office/powerpoint/2010/main" val="32125556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4B21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D0CA44-FB41-4EE6-8BED-3E2F88ABF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QUIZ HTML · QUESTION 1/7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8C2F41-70F2-4E37-9EE2-8D58BC274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88D6DB-13BF-4C9C-BACE-49ABB030B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953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Quel ordre respecte le squelette minimal du document 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7D04C7-1CEA-4D26-BD1E-1C1998B53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A.  html, head, body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B8FB37-9EBE-47AF-BAF4-D8D4CBA6E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B.  head, html, body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BD71E0-7D93-4DCB-9995-79338D116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814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C.  html, body, head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7879FE-A1B0-4BA5-A28D-6BF2F96E4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910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D.  body, title, html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AC8AF4-2A10-4912-870E-A93407AE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53125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30 secondes · Réponse commune par équipe</a:t>
            </a:r>
          </a:p>
        </p:txBody>
      </p:sp>
    </p:spTree>
    <p:extLst>
      <p:ext uri="{BB962C8B-B14F-4D97-AF65-F5344CB8AC3E}">
        <p14:creationId xmlns:p14="http://schemas.microsoft.com/office/powerpoint/2010/main" val="138090790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3B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32FED9-12DB-41DD-A32B-57CA4928E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QUIZ HTML · CORRECTION 1/7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696F43-6348-4C44-B6D5-572209EA0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4E02A2-9FBE-4D61-AD73-47D5AEA8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A. html, puis head et body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92204A-9479-4BA3-BFAA-8F15D74AC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105727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rPr>
              <a:t>&lt;!DOCTYPE html&gt;</a:t>
            </a:r>
          </a:p>
          <a:p xmlns:a="http://schemas.openxmlformats.org/drawingml/2006/main">
            <a:pPr algn="l">
              <a:def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rPr>
              <a:t>&lt;html lang="fr"&gt;</a:t>
            </a:r>
          </a:p>
          <a:p xmlns:a="http://schemas.openxmlformats.org/drawingml/2006/main">
            <a:pPr algn="l">
              <a:def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rPr>
              <a:t>&lt;head&gt;...&lt;/head&gt;</a:t>
            </a:r>
          </a:p>
          <a:p xmlns:a="http://schemas.openxmlformats.org/drawingml/2006/main">
            <a:pPr algn="l">
              <a:def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rPr>
              <a:t>&lt;body&gt;...&lt;/body&gt;</a:t>
            </a:r>
          </a:p>
          <a:p xmlns:a="http://schemas.openxmlformats.org/drawingml/2006/main">
            <a:pPr algn="l">
              <a:def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rPr>
              <a:t>&lt;/html&gt;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3E6F93-3282-41F8-9BFE-2194995C1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810125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rPr>
              <a:t>html contient le document. head porte les informations sur la page. body contient ce que le visiteur consulte.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FF78B6-B62E-4FA1-A091-F39B996FC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5312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+1 point pour une réponse exacte et expliquée</a:t>
            </a:r>
          </a:p>
        </p:txBody>
      </p:sp>
    </p:spTree>
    <p:extLst>
      <p:ext uri="{BB962C8B-B14F-4D97-AF65-F5344CB8AC3E}">
        <p14:creationId xmlns:p14="http://schemas.microsoft.com/office/powerpoint/2010/main" val="204532542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4B21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530567-48D0-4D99-92A8-59C7E3DED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QUIZ HTML · QUESTION 2/7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22EFE9-2EC2-4BAD-9E25-712A4109F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AB7144-E73E-4162-A54E-C5BEEF849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953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Quelle balise porte le titre principal visible 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0D6B6F-8FE3-422E-82B3-664BBEA8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A.  &lt;title&gt;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08A169-AAF4-447A-A2D0-4A91AFA7F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B.  &lt;h1&gt;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BBA9A8-C3DE-4CBE-888F-94DD26380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814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C.  &lt;header&gt;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8236BC-8E67-43AF-871A-C5C8176AB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910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D.  &lt;strong&gt;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C7E4CC-9933-438C-AD07-985DBFFDC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53125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30 secondes · Réponse commune par équipe</a:t>
            </a:r>
          </a:p>
        </p:txBody>
      </p:sp>
    </p:spTree>
    <p:extLst>
      <p:ext uri="{BB962C8B-B14F-4D97-AF65-F5344CB8AC3E}">
        <p14:creationId xmlns:p14="http://schemas.microsoft.com/office/powerpoint/2010/main" val="1341909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73B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EE1930-8428-439F-90FE-7FD663D04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QUIZ HTML · CORRECTION 2/7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394D23-EB16-4B65-9DEE-263DE8046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B3492B-FFB4-4979-A029-BA2D7474F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B. &lt;h1&gt;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7EEB4D-BF12-4A6D-81B1-5C89D752A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105727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rPr>
              <a:t>&lt;head&gt;</a:t>
            </a:r>
          </a:p>
          <a:p xmlns:a="http://schemas.openxmlformats.org/drawingml/2006/main">
            <a:pPr algn="l">
              <a:def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rPr>
              <a:t>  &lt;title&gt;CV de Tintin&lt;/title&gt;</a:t>
            </a:r>
          </a:p>
          <a:p xmlns:a="http://schemas.openxmlformats.org/drawingml/2006/main">
            <a:pPr algn="l">
              <a:def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rPr>
              <a:t>&lt;/head&gt;</a:t>
            </a:r>
          </a:p>
          <a:p xmlns:a="http://schemas.openxmlformats.org/drawingml/2006/main">
            <a:pPr algn="l">
              <a:def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rPr>
              <a:t>&lt;body&gt;</a:t>
            </a:r>
          </a:p>
          <a:p xmlns:a="http://schemas.openxmlformats.org/drawingml/2006/main">
            <a:pPr algn="l">
              <a:def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rPr>
              <a:t>  &lt;h1&gt;Tintin, reporter&lt;/h1&gt;</a:t>
            </a:r>
          </a:p>
          <a:p xmlns:a="http://schemas.openxmlformats.org/drawingml/2006/main">
            <a:pPr algn="l">
              <a:def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rPr>
              <a:t>&lt;/body&gt;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7F6F3B-80BD-454B-9A3E-52343A1D0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810125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rPr>
              <a:t>title nomme l'onglet. h1 annonce le sujet principal du contenu visible.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90B808-ACD2-4251-867E-8C7CBF8D7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5312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+1 point pour une réponse exacte et expliquée</a:t>
            </a:r>
          </a:p>
        </p:txBody>
      </p:sp>
    </p:spTree>
    <p:extLst>
      <p:ext uri="{BB962C8B-B14F-4D97-AF65-F5344CB8AC3E}">
        <p14:creationId xmlns:p14="http://schemas.microsoft.com/office/powerpoint/2010/main" val="193361205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4B21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88396F-973B-4134-8F31-8552B75FD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QUIZ HTML · QUESTION 3/7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3067A8-E4AA-497A-9DE3-C635CC554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CFE20D-2C80-4B9E-8E46-47B4CCBA8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953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Quelle association exprime correctement importance et emphase 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21ED65-B271-4A9D-AFAE-D90F5A90C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A.  strong = importance, em = emphase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872846-589F-40EB-91CE-AA259C369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B.  em = image, strong = lien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C1B15B-269D-45AE-A298-BEA3C6813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814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C.  strong = gros titre, em = paragraphe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FFC88B-C27B-411B-BEF2-107DCA807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910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D.  Les deux balises ont exactement le même sens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DDC740-9179-41B5-A6D1-D7A9533BB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53125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30 secondes · Réponse commune par équipe</a:t>
            </a:r>
          </a:p>
        </p:txBody>
      </p:sp>
    </p:spTree>
    <p:extLst>
      <p:ext uri="{BB962C8B-B14F-4D97-AF65-F5344CB8AC3E}">
        <p14:creationId xmlns:p14="http://schemas.microsoft.com/office/powerpoint/2010/main" val="8673636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73B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E68652-480B-4DEA-9DD0-038AE9376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QUIZ HTML · CORRECTION 3/7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D93B9B-5D5C-4C09-A96C-4AC4E30BB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F1F047-0551-4267-806B-371B6B03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A. strong pour l'importance, em pour l'emphase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8AD41E-BA61-45FC-A4AA-45FC0EF9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03822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rPr>
              <a:t>Le choix repose sur le sens du passage, pas sur son apparence visuelle.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627F19-1A38-4400-A863-E461DD993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5312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+1 point pour une réponse exacte et expliquée</a:t>
            </a:r>
          </a:p>
        </p:txBody>
      </p:sp>
    </p:spTree>
    <p:extLst>
      <p:ext uri="{BB962C8B-B14F-4D97-AF65-F5344CB8AC3E}">
        <p14:creationId xmlns:p14="http://schemas.microsoft.com/office/powerpoint/2010/main" val="1608266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4B21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C448E3-0914-4BBA-9D27-53754FC2A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QUIZ HTML · QUESTION 4/7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9EC84B-DC1E-4C10-BD0B-459AD55CB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0D2086-2CC4-4305-B878-C2AECD34B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953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Quel lien externe est correctement écrit 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528CDB-FFC7-4CEA-9380-F47F2AA8A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A.  &lt;a&gt;https://developer.mozilla.org&lt;/a&gt;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6317CD-E164-479C-B861-183BB0797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B.  &lt;a src="https://developer.mozilla.org"&gt;MDN&lt;/a&gt;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A87CD8-0561-4813-A2A5-9661E602C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814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C.  &lt;a href="https://developer.mozilla.org"&gt;Documentation MDN&lt;/a&gt;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412633-11B0-40F4-B994-492921BE2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910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D.  &lt;link href="MDN"&gt;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ECB2D4-37D8-4790-8982-88CCBD0CA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53125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30 secondes · Réponse commune par équipe</a:t>
            </a:r>
          </a:p>
        </p:txBody>
      </p:sp>
    </p:spTree>
    <p:extLst>
      <p:ext uri="{BB962C8B-B14F-4D97-AF65-F5344CB8AC3E}">
        <p14:creationId xmlns:p14="http://schemas.microsoft.com/office/powerpoint/2010/main" val="157964101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73B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96BE4A-9961-4B9B-B6BD-03F8D71F5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QUIZ HTML · CORRECTION 4/7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4AD2C2-3A19-4DD3-A458-4AF90FF95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DCFA74-66F9-446B-BB06-BADEDE1E8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C. Le lien utilise a et l'attribut href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F83409-D3FC-41E6-A480-C88CA799B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105727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rPr>
              <a:t>&lt;a href="https://developer.mozilla.org"&gt;</a:t>
            </a:r>
          </a:p>
          <a:p xmlns:a="http://schemas.openxmlformats.org/drawingml/2006/main">
            <a:pPr algn="l">
              <a:def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rPr>
              <a:t>  Documentation HTML sur MDN</a:t>
            </a:r>
          </a:p>
          <a:p xmlns:a="http://schemas.openxmlformats.org/drawingml/2006/main">
            <a:pPr algn="l">
              <a:def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rPr>
              <a:t>&lt;/a&gt;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64F3EB-4DF0-4D59-893D-93F1D3FF1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810125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rPr>
              <a:t>Le texte du lien doit annoncer sa destination. Évitez « cliquez ici ».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DA697E-C8BD-4FAE-BE4F-579EBBE39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5312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+1 point pour une réponse exacte et expliquée</a:t>
            </a:r>
          </a:p>
        </p:txBody>
      </p:sp>
    </p:spTree>
    <p:extLst>
      <p:ext uri="{BB962C8B-B14F-4D97-AF65-F5344CB8AC3E}">
        <p14:creationId xmlns:p14="http://schemas.microsoft.com/office/powerpoint/2010/main" val="189654639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4B21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CCF5A9-D98B-4DBB-BC31-6DA30E50A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QUIZ HTML · QUESTION 5/7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171452-8244-4064-A118-68CEFA82B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CBCEF7-63AF-4210-A2B0-36885268D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953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Quelle image locale est correctement décrite 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8EADAE-D024-452A-A94D-A7457B94A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A.  &lt;img href="images/milou.jpg"&gt;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101F98-0A48-41EA-9834-F05C4A3CC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B.  &lt;img src="images/milou.jpg" alt="Milou court dans la neige"&gt;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78BBB1-7318-406E-BC02-D2C161073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814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C.  &lt;image src="milou"&gt;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C9A0A0-A1FE-4DFC-9EEF-AF2640521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910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D.  &lt;img src="https://site-distant/image.jpg"&gt;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A5DDEC-6493-4D10-8B7D-4883FCD4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53125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30 secondes · Réponse commune par équipe</a:t>
            </a:r>
          </a:p>
        </p:txBody>
      </p:sp>
    </p:spTree>
    <p:extLst>
      <p:ext uri="{BB962C8B-B14F-4D97-AF65-F5344CB8AC3E}">
        <p14:creationId xmlns:p14="http://schemas.microsoft.com/office/powerpoint/2010/main" val="130612218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73B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DB946E-B7D8-4834-A2A3-11B454DB1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QUIZ HTML · CORRECTION 5/7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6A8007-10F8-425A-9523-8F43E5DFE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817058-2F24-4198-924E-018FD194F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B. src donne le chemin et alt décrit l'image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9FCCF2-6B85-40BC-8F0E-4BFF33CE1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105727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rPr>
              <a:t>&lt;figure&gt;</a:t>
            </a:r>
          </a:p>
          <a:p xmlns:a="http://schemas.openxmlformats.org/drawingml/2006/main">
            <a:pPr algn="l">
              <a:def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rPr>
              <a:t>  &lt;img src="images/milou.jpg"</a:t>
            </a:r>
          </a:p>
          <a:p xmlns:a="http://schemas.openxmlformats.org/drawingml/2006/main">
            <a:pPr algn="l">
              <a:def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rPr>
              <a:t>       alt="Milou court dans la neige"&gt;</a:t>
            </a:r>
          </a:p>
          <a:p xmlns:a="http://schemas.openxmlformats.org/drawingml/2006/main">
            <a:pPr algn="l">
              <a:def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rPr>
              <a:t>  &lt;figcaption&gt;Milou au Tibet&lt;/figcaption&gt;</a:t>
            </a:r>
          </a:p>
          <a:p xmlns:a="http://schemas.openxmlformats.org/drawingml/2006/main">
            <a:pPr algn="l">
              <a:def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rPr>
              <a:t>&lt;/figure&gt;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EB8580-686F-4C27-9075-B83AA7938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810125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rPr>
              <a:t>L'image appartient au dossier du projet. Le texte alternatif dépend du rôle de l'image.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635C38-7794-4915-9630-199467C2C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5312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+1 point pour une réponse exacte et expliquée</a:t>
            </a:r>
          </a:p>
        </p:txBody>
      </p:sp>
    </p:spTree>
    <p:extLst>
      <p:ext uri="{BB962C8B-B14F-4D97-AF65-F5344CB8AC3E}">
        <p14:creationId xmlns:p14="http://schemas.microsoft.com/office/powerpoint/2010/main" val="147235707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4B21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917811-78A0-485A-9840-9EEC50FE0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QUIZ HTML · QUESTION 6/7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06B200-3E1F-4B46-B70E-4081CD3E5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27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FDBFDC-7725-48EC-AF6B-90E46BA3F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953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Quelle balise regroupe les liens principaux du site 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0BE13A-46C7-47B4-A929-142CA406C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A.  &lt;nav&gt;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71AB7F-E4B3-4270-9B21-79315CBCC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B.  &lt;link&gt;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2CCD57-36DC-4B6F-B2F3-55F5A765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814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C.  &lt;menuitem&gt;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A38F9A-C6EC-4D7E-BD93-5EEF285FF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910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D.  &lt;href&gt;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E1548E-209A-4EDB-BD4C-1E092DADB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53125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30 secondes · Réponse commune par équipe</a:t>
            </a:r>
          </a:p>
        </p:txBody>
      </p:sp>
    </p:spTree>
    <p:extLst>
      <p:ext uri="{BB962C8B-B14F-4D97-AF65-F5344CB8AC3E}">
        <p14:creationId xmlns:p14="http://schemas.microsoft.com/office/powerpoint/2010/main" val="10954885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73B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E9A9AB-EDAD-4443-8295-429ABD5E7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QUIZ HTML · CORRECTION 6/7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1F7496-F591-485D-B313-974CB1A08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28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F77692-5D0A-45E5-B9ED-8EE42AD3D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A. &lt;nav&gt;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6D41C4-A4EA-48CB-97A3-F330D0AE7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105727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rPr>
              <a:t>&lt;nav&gt;</a:t>
            </a:r>
          </a:p>
          <a:p xmlns:a="http://schemas.openxmlformats.org/drawingml/2006/main">
            <a:pPr algn="l">
              <a:def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rPr>
              <a:t>  &lt;a href="index.html"&gt;Accueil&lt;/a&gt;</a:t>
            </a:r>
          </a:p>
          <a:p xmlns:a="http://schemas.openxmlformats.org/drawingml/2006/main">
            <a:pPr algn="l">
              <a:def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rPr>
              <a:t>  &lt;a href="aventures.html"&gt;Aventures&lt;/a&gt;</a:t>
            </a:r>
          </a:p>
          <a:p xmlns:a="http://schemas.openxmlformats.org/drawingml/2006/main">
            <a:pPr algn="l">
              <a:def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rPr>
              <a:t>  &lt;a href="milou.html"&gt;Milou&lt;/a&gt;</a:t>
            </a:r>
          </a:p>
          <a:p xmlns:a="http://schemas.openxmlformats.org/drawingml/2006/main">
            <a:pPr algn="l">
              <a:def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rPr>
              <a:t>&lt;/nav&gt;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860467-CDF5-402A-97E4-45C42B9CE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810125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rPr>
              <a:t>nav représente une zone de navigation. Les destinations restent des éléments a avec href.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FD9DFF-897D-48DA-BA49-C73C69BC5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5312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+1 point pour une réponse exacte et expliquée</a:t>
            </a:r>
          </a:p>
        </p:txBody>
      </p:sp>
    </p:spTree>
    <p:extLst>
      <p:ext uri="{BB962C8B-B14F-4D97-AF65-F5344CB8AC3E}">
        <p14:creationId xmlns:p14="http://schemas.microsoft.com/office/powerpoint/2010/main" val="74331570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4B21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7C3341-AA5D-41BE-BFDF-FB640E550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QUIZ HTML · QUESTION 7/7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09CA4E-CE2F-4730-B268-34FF28E35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29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D6B142-B915-455C-BB1C-E28CC6334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953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Quel duo associe une illustration à sa légende 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43077A-C947-49AC-A921-0682C30B3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A.  picture et legend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79F7F9-446E-4D2F-8430-E22F87265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B.  img et title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DF595E-667F-42C9-B913-9BB518461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814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C.  figure et figcaption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05A506-BEEC-4215-9EE8-DD9A59CA5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910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D.  photo et caption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555DE4-1367-476A-A6C9-941EAE14C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53125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30 secondes · Réponse commune par équipe</a:t>
            </a:r>
          </a:p>
        </p:txBody>
      </p:sp>
    </p:spTree>
    <p:extLst>
      <p:ext uri="{BB962C8B-B14F-4D97-AF65-F5344CB8AC3E}">
        <p14:creationId xmlns:p14="http://schemas.microsoft.com/office/powerpoint/2010/main" val="79477812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73B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78EA60-D05F-4022-911B-B7FFBF899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QUIZ HTML · CORRECTION 7/7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67BBCB-3C66-48E4-AD59-2E09FC87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181058-E489-43C3-84E6-FAE2C4CA7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C. figure et figcaption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3AD05E-DAE6-4C45-B1C9-ED4B074F7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105727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rPr>
              <a:t>&lt;figure&gt;</a:t>
            </a:r>
          </a:p>
          <a:p xmlns:a="http://schemas.openxmlformats.org/drawingml/2006/main">
            <a:pPr algn="l">
              <a:def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rPr>
              <a:t>  &lt;img src="images/fusee.jpg"</a:t>
            </a:r>
          </a:p>
          <a:p xmlns:a="http://schemas.openxmlformats.org/drawingml/2006/main">
            <a:pPr algn="l">
              <a:def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rPr>
              <a:t>       alt="Fusée rouge et blanche sur son pas de tir"&gt;</a:t>
            </a:r>
          </a:p>
          <a:p xmlns:a="http://schemas.openxmlformats.org/drawingml/2006/main">
            <a:pPr algn="l">
              <a:def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rPr>
              <a:t>  &lt;figcaption&gt;Départ vers la Lune&lt;/figcaption&gt;</a:t>
            </a:r>
          </a:p>
          <a:p xmlns:a="http://schemas.openxmlformats.org/drawingml/2006/main">
            <a:pPr algn="l">
              <a:def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rPr>
              <a:t>&lt;/figure&gt;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07B6AC-AEB9-4F12-B57B-DB98DC440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810125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rPr>
              <a:t>figure contient un contenu autonome. figcaption lui associe une légende visible.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BCB2E8-F999-46DC-B9C4-DC32534FD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5312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+1 point pour une réponse exacte et expliquée</a:t>
            </a:r>
          </a:p>
        </p:txBody>
      </p:sp>
    </p:spTree>
    <p:extLst>
      <p:ext uri="{BB962C8B-B14F-4D97-AF65-F5344CB8AC3E}">
        <p14:creationId xmlns:p14="http://schemas.microsoft.com/office/powerpoint/2010/main" val="153981380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1428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BD784C-263C-4B8B-AFB7-C5A66F52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E0B44C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E0B44C"/>
                </a:solidFill>
                <a:latin typeface="DejaVu Sans"/>
                <a:ea typeface="DejaVu Sans"/>
                <a:cs typeface="DejaVu Sans"/>
              </a:rPr>
              <a:t>MANCHE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7C95EC-8D53-4155-9A7D-1479CAAF7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31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11F3A1-0669-4D2E-A257-C7E949EAF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La chasse aux bugs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C513DA-C346-40AF-A70F-75E4E5371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0"/>
            <a:ext cx="971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rPr>
              <a:t>Le diagnostic rapporte autant que la correction. Une seule modification à la fois.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1712D9-235F-49FE-A464-D4B0CF387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19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E0B44C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i="0">
                <a:solidFill>
                  <a:srgbClr val="E0B44C"/>
                </a:solidFill>
                <a:latin typeface="DejaVu Sans"/>
                <a:ea typeface="DejaVu Sans"/>
                <a:cs typeface="DejaVu Sans"/>
              </a:rPr>
              <a:t>35 minutes</a:t>
            </a:r>
          </a:p>
        </p:txBody>
      </p:sp>
    </p:spTree>
    <p:extLst>
      <p:ext uri="{BB962C8B-B14F-4D97-AF65-F5344CB8AC3E}">
        <p14:creationId xmlns:p14="http://schemas.microsoft.com/office/powerpoint/2010/main" val="78428152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4B21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20A7A5-3070-4788-86C6-D54F19C70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DÉBOGAGE · QUESTION 1/7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1317A2-5FC3-49F7-9A27-B607A23FB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32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544175-DBE5-494B-8948-4F428D90A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953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Bug 1 : quelle balise ferme le mauvais élément 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DACB43-B4CE-4D11-B11D-D55DE64B7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52750"/>
            <a:ext cx="10572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rPr>
              <a:t>&lt;h1&gt;Le club des objets perdus&lt;/h2&gt;</a:t>
            </a:r>
          </a:p>
          <a:p xmlns:a="http://schemas.openxmlformats.org/drawingml/2006/main">
            <a:pPr algn="l">
              <a:def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rPr>
              <a:t>&lt;p&gt;Bienvenue dans notre collection.&lt;/p&gt;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B3A621-04ED-4458-84E8-A220EB865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53125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30 secondes · Réponse commune par équipe</a:t>
            </a:r>
          </a:p>
        </p:txBody>
      </p:sp>
    </p:spTree>
    <p:extLst>
      <p:ext uri="{BB962C8B-B14F-4D97-AF65-F5344CB8AC3E}">
        <p14:creationId xmlns:p14="http://schemas.microsoft.com/office/powerpoint/2010/main" val="159549883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73B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053D51-5CD9-41AA-81E8-4FBBCD9D8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DÉBOGAGE · CORRECTION 1/7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75F238-04B3-4E39-A141-EF68AF9DE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33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583D2C-7E97-4764-BB6B-170D0D757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Le h1 doit se fermer avec &lt;/h1&gt;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F97410-9185-49D5-9A4B-E98BDC0CC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105727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rPr>
              <a:t>&lt;h1&gt;Le club des objets perdus&lt;/h1&gt;</a:t>
            </a:r>
          </a:p>
          <a:p xmlns:a="http://schemas.openxmlformats.org/drawingml/2006/main">
            <a:pPr algn="l">
              <a:def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rPr>
              <a:t>&lt;p&gt;Bienvenue dans notre collection.&lt;/p&gt;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7E5697-32B6-473E-8BAC-FC557F113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810125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rPr>
              <a:t>Les noms des balises ouvrantes et fermantes doivent correspondre.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633C99-DA7A-45DF-AD32-EFB677282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5312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+1 point pour une réponse exacte et expliquée</a:t>
            </a:r>
          </a:p>
        </p:txBody>
      </p:sp>
    </p:spTree>
    <p:extLst>
      <p:ext uri="{BB962C8B-B14F-4D97-AF65-F5344CB8AC3E}">
        <p14:creationId xmlns:p14="http://schemas.microsoft.com/office/powerpoint/2010/main" val="565192863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4B21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A52E8C-C95D-4397-BF08-3A245492A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DÉBOGAGE · QUESTION 2/7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3988A3-EF6D-449C-B57D-63F9C6651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34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CCC6F4-3F44-4404-9BA3-8CB786EBA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953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Bug 2 : pourquoi le lien avale-t-il le reste de la page 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3F6119-105B-4982-9327-D43A82089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52750"/>
            <a:ext cx="10572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rPr>
              <a:t>&lt;a href="aventures.html&gt;Aventures&lt;/a&gt;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A08C20-F642-4446-8C32-066F981E5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53125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30 secondes · Réponse commune par équipe</a:t>
            </a:r>
          </a:p>
        </p:txBody>
      </p:sp>
    </p:spTree>
    <p:extLst>
      <p:ext uri="{BB962C8B-B14F-4D97-AF65-F5344CB8AC3E}">
        <p14:creationId xmlns:p14="http://schemas.microsoft.com/office/powerpoint/2010/main" val="385499856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73B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3EC02B-8F58-4A24-854F-21C37B33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DÉBOGAGE · CORRECTION 2/7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A893ED-A450-47C8-B0EC-08A2A1628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35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E20DED-C414-4412-8BB7-15C3C67AE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Le guillemet fermant de href manque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512097-4B79-4BB2-9430-5B27193AE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105727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rPr>
              <a:t>&lt;a href="aventures.html"&gt;Aventures&lt;/a&gt;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1BCC6F-D3D2-4A47-A056-69450AA7C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810125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rPr>
              <a:t>L'attribut href doit recevoir une valeur correctement délimitée.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40D872-BED7-46CB-A529-B2B2ADD8B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5312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+1 point pour une réponse exacte et expliquée</a:t>
            </a:r>
          </a:p>
        </p:txBody>
      </p:sp>
    </p:spTree>
    <p:extLst>
      <p:ext uri="{BB962C8B-B14F-4D97-AF65-F5344CB8AC3E}">
        <p14:creationId xmlns:p14="http://schemas.microsoft.com/office/powerpoint/2010/main" val="229779317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4B21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196821-43B5-4131-9AF8-495281F1D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DÉBOGAGE · QUESTION 3/7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D0AB33-BBB0-4430-9A29-F6AD084EA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36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F8A338-0CD1-407D-8A98-68E08AC24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953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Bug 3 : l'image existe dans images/milou.jpg. Pourquoi reste-t-elle invisible 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94390F-00E7-45F2-8723-A4B6143C8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52750"/>
            <a:ext cx="10572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rPr>
              <a:t>&lt;img src="milou.jpg" alt="Milou"&gt;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E48957-4F2B-4DBC-8C0D-A1F620506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53125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30 secondes · Réponse commune par équipe</a:t>
            </a:r>
          </a:p>
        </p:txBody>
      </p:sp>
    </p:spTree>
    <p:extLst>
      <p:ext uri="{BB962C8B-B14F-4D97-AF65-F5344CB8AC3E}">
        <p14:creationId xmlns:p14="http://schemas.microsoft.com/office/powerpoint/2010/main" val="1114173105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073B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D07CE1-D202-4AEC-AC88-197087DB2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DÉBOGAGE · CORRECTION 3/7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D6E9C5-729D-4338-B8F7-DEC485084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37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7D86F6-FAF5-4D1F-8557-DC1D22CDE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Le chemin oublie le dossier images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A16B24-09EC-41AF-9F89-E80A77464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105727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rPr>
              <a:t>&lt;img src="images/milou.jpg" alt="Milou, fox-terrier blanc"&gt;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4053D4-839E-4365-A3C1-E609A1A0A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810125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rPr>
              <a:t>Le chemin se lit depuis l'emplacement du fichier HTML actuellement ouvert.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C55174-0519-41B7-B290-57AD32ED4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5312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+1 point pour une réponse exacte et expliquée</a:t>
            </a:r>
          </a:p>
        </p:txBody>
      </p:sp>
    </p:spTree>
    <p:extLst>
      <p:ext uri="{BB962C8B-B14F-4D97-AF65-F5344CB8AC3E}">
        <p14:creationId xmlns:p14="http://schemas.microsoft.com/office/powerpoint/2010/main" val="2023345517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4B21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702E96-BBA0-45E8-BF46-890134826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DÉBOGAGE · QUESTION 4/7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E1F4ED-3C70-43AD-9258-172249BE2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38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2AC6A7-60BE-4B50-8105-F9BFB7726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953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Bug 4 : quelle fermeture respecte l'imbrication 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4C9EDA-E3F2-4DD4-A510-57EB4381D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52750"/>
            <a:ext cx="10572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rPr>
              <a:t>&lt;p&gt;Cette mission est &lt;strong&gt;très dangereuse.&lt;/p&gt;&lt;/strong&gt;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063866-D10D-48F8-8329-E047F20B6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53125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30 secondes · Réponse commune par équipe</a:t>
            </a:r>
          </a:p>
        </p:txBody>
      </p:sp>
    </p:spTree>
    <p:extLst>
      <p:ext uri="{BB962C8B-B14F-4D97-AF65-F5344CB8AC3E}">
        <p14:creationId xmlns:p14="http://schemas.microsoft.com/office/powerpoint/2010/main" val="211815532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073B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BE872C-9DB2-437C-97E8-04FB128D9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DÉBOGAGE · CORRECTION 4/7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C1D77C-37FE-49BD-99EB-019A4FCB4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39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16F2B2-192A-414C-9CE2-36F50F91F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strong doit se fermer avant le paragraphe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17C6F5-69CB-4479-8588-C87ADFE4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105727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rPr>
              <a:t>&lt;p&gt;Cette mission est &lt;strong&gt;très dangereuse&lt;/strong&gt;.&lt;/p&gt;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02099D-1561-4A13-9CC8-7CA628518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810125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rPr>
              <a:t>Le dernier élément ouvert se ferme en premier.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55E0FC-B427-4373-B179-5E59B79E3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5312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+1 point pour une réponse exacte et expliquée</a:t>
            </a:r>
          </a:p>
        </p:txBody>
      </p:sp>
    </p:spTree>
    <p:extLst>
      <p:ext uri="{BB962C8B-B14F-4D97-AF65-F5344CB8AC3E}">
        <p14:creationId xmlns:p14="http://schemas.microsoft.com/office/powerpoint/2010/main" val="1128115309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4B21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F0A001-CCC9-43A6-863A-567A454B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DÉBOGAGE · QUESTION 5/7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AC9139-3364-4F63-995F-BEAD2ACCD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4D1618-C7E7-4F2C-AD6D-2A1B9BE65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953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Bug 5 : pourquoi cette liste est-elle incohérente 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3FB602-1494-451D-B0F7-597D6F109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52750"/>
            <a:ext cx="10572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rPr>
              <a:t>&lt;ul&gt;</a:t>
            </a:r>
          </a:p>
          <a:p xmlns:a="http://schemas.openxmlformats.org/drawingml/2006/main">
            <a:pPr algn="l">
              <a:def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rPr>
              <a:t>  &lt;li&gt;Loupe&lt;/li&gt;</a:t>
            </a:r>
          </a:p>
          <a:p xmlns:a="http://schemas.openxmlformats.org/drawingml/2006/main">
            <a:pPr algn="l">
              <a:def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rPr>
              <a:t>  &lt;li&gt;Carnet&lt;/li&gt;</a:t>
            </a:r>
          </a:p>
          <a:p xmlns:a="http://schemas.openxmlformats.org/drawingml/2006/main">
            <a:pPr algn="l">
              <a:def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rPr>
              <a:t>&lt;/ol&gt;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DD48C4-ADB3-4D4A-8346-C47329A0B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53125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30 secondes · Réponse commune par équipe</a:t>
            </a:r>
          </a:p>
        </p:txBody>
      </p:sp>
    </p:spTree>
    <p:extLst>
      <p:ext uri="{BB962C8B-B14F-4D97-AF65-F5344CB8AC3E}">
        <p14:creationId xmlns:p14="http://schemas.microsoft.com/office/powerpoint/2010/main" val="561340637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073B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1A97C5-EBF0-4870-B3E5-E28F9E37B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DÉBOGAGE · CORRECTION 5/7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28E0F2-0614-418A-BA4B-ED177E0A8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41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F4534E-6154-4B04-9F39-1A5FAF397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La liste ouverte avec ul doit se fermer avec &lt;/ul&gt;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8CF636-F635-490F-A7CE-1C9CDCC15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105727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rPr>
              <a:t>&lt;ul&gt;</a:t>
            </a:r>
          </a:p>
          <a:p xmlns:a="http://schemas.openxmlformats.org/drawingml/2006/main">
            <a:pPr algn="l">
              <a:def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rPr>
              <a:t>  &lt;li&gt;Loupe&lt;/li&gt;</a:t>
            </a:r>
          </a:p>
          <a:p xmlns:a="http://schemas.openxmlformats.org/drawingml/2006/main">
            <a:pPr algn="l">
              <a:def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rPr>
              <a:t>  &lt;li&gt;Carnet&lt;/li&gt;</a:t>
            </a:r>
          </a:p>
          <a:p xmlns:a="http://schemas.openxmlformats.org/drawingml/2006/main">
            <a:pPr algn="l">
              <a:def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rPr>
              <a:t>&lt;/ul&gt;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B3410C-85B0-4113-A469-CC1003005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810125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rPr>
              <a:t>ul représente ici un inventaire sans ordre imposé.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918E30-F1E6-4147-99AE-AA1375C82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5312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+1 point pour une réponse exacte et expliquée</a:t>
            </a:r>
          </a:p>
        </p:txBody>
      </p:sp>
    </p:spTree>
    <p:extLst>
      <p:ext uri="{BB962C8B-B14F-4D97-AF65-F5344CB8AC3E}">
        <p14:creationId xmlns:p14="http://schemas.microsoft.com/office/powerpoint/2010/main" val="1718691335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4B21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C5247B-D3A3-4FC8-AC42-188B3D873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DÉBOGAGE · QUESTION 6/7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8E28E4-8814-4942-B908-AFDE1CBB3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42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FFD75C-CC17-4BD4-924B-BCB2D6E27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953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Bug 6 : cliquer sur le libellé ne place pas le curseur dans le champ.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5D87D1-C81A-4740-98A5-A83EEB80A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52750"/>
            <a:ext cx="10572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rPr>
              <a:t>&lt;label for="email"&gt;E-mail&lt;/label&gt;</a:t>
            </a:r>
          </a:p>
          <a:p xmlns:a="http://schemas.openxmlformats.org/drawingml/2006/main">
            <a:pPr algn="l">
              <a:def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rPr>
              <a:t>&lt;input id="mail" type="email"&gt;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8A7340-DAD7-4428-997B-E917E12D9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53125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30 secondes · Réponse commune par équipe</a:t>
            </a:r>
          </a:p>
        </p:txBody>
      </p:sp>
    </p:spTree>
    <p:extLst>
      <p:ext uri="{BB962C8B-B14F-4D97-AF65-F5344CB8AC3E}">
        <p14:creationId xmlns:p14="http://schemas.microsoft.com/office/powerpoint/2010/main" val="174624410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073B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1EA870-CC62-4506-93E5-BCB3A0BB6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DÉBOGAGE · CORRECTION 6/7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71DBEA-E0E2-4A86-8A98-6338F8196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43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FAE70C-93C2-4959-BCA3-974F5C5F4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for et id doivent avoir exactement la même valeur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BB5BCF-0085-4DF3-9AA4-3A8B2CBAE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105727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rPr>
              <a:t>&lt;label for="email"&gt;E-mail&lt;/label&gt;</a:t>
            </a:r>
          </a:p>
          <a:p xmlns:a="http://schemas.openxmlformats.org/drawingml/2006/main">
            <a:pPr algn="l">
              <a:def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rPr>
              <a:t>&lt;input id="email" name="email" type="email"&gt;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F11341-94FE-4833-BEA6-E68834E34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810125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rPr>
              <a:t>Cette association aide tout le monde, notamment les personnes qui naviguent au clavier ou avec un lecteur d'écran.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84DFA6-FE3E-4FFA-851F-3CBEAD63F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5312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+1 point pour une réponse exacte et expliquée</a:t>
            </a:r>
          </a:p>
        </p:txBody>
      </p:sp>
    </p:spTree>
    <p:extLst>
      <p:ext uri="{BB962C8B-B14F-4D97-AF65-F5344CB8AC3E}">
        <p14:creationId xmlns:p14="http://schemas.microsoft.com/office/powerpoint/2010/main" val="1971599410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4B21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77DD0B-4A88-4C08-98DD-CC3527943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DÉBOGAGE · QUESTION 7/7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8F104A-FD6F-4372-B336-357FC81E9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44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92F0E5-E90F-42F2-A3F4-51152589F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953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Bug 7 : que manque-t-il dans la seconde ligne du tableau 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A80F86-48F3-4834-8ECC-64E169F67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52750"/>
            <a:ext cx="10572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rPr>
              <a:t>&lt;tr&gt;&lt;th&gt;Nom&lt;/th&gt;&lt;th&gt;Score&lt;/th&gt;&lt;/tr&gt;</a:t>
            </a:r>
          </a:p>
          <a:p xmlns:a="http://schemas.openxmlformats.org/drawingml/2006/main">
            <a:pPr algn="l">
              <a:def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rPr>
              <a:t>&lt;tr&gt;&lt;td&gt;R-12&lt;/td&gt;&lt;/tr&gt;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94AD1D-6FD0-47CC-A806-65FCA79A1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53125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30 secondes · Réponse commune par équipe</a:t>
            </a:r>
          </a:p>
        </p:txBody>
      </p:sp>
    </p:spTree>
    <p:extLst>
      <p:ext uri="{BB962C8B-B14F-4D97-AF65-F5344CB8AC3E}">
        <p14:creationId xmlns:p14="http://schemas.microsoft.com/office/powerpoint/2010/main" val="953324430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073B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B7FB74-970E-45F8-A7DB-949ACC792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DÉBOGAGE · CORRECTION 7/7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73FFFD-37B0-4423-A71D-0D7E9BC2B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45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E2DAA6-9199-4C40-86AF-F624E5044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La cellule du score manque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CD5B22-0071-4DEF-BB1F-BB8BCB388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105727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rPr>
              <a:t>&lt;tr&gt;&lt;th scope="col"&gt;Nom&lt;/th&gt;&lt;th scope="col"&gt;Score&lt;/th&gt;&lt;/tr&gt;</a:t>
            </a:r>
          </a:p>
          <a:p xmlns:a="http://schemas.openxmlformats.org/drawingml/2006/main">
            <a:pPr algn="l">
              <a:defRPr sz="135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rPr>
              <a:t>&lt;tr&gt;&lt;td&gt;R-12&lt;/td&gt;&lt;td&gt;42&lt;/td&gt;&lt;/tr&gt;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AC3DE1-7B3B-4939-A92E-929C23245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810125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rPr>
              <a:t>Les lignes doivent conserver la structure logique annoncée par les en-têtes.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F03C74-A569-4BAC-9BFA-9AB3DEC33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5312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+1 point pour une réponse exacte et expliquée</a:t>
            </a:r>
          </a:p>
        </p:txBody>
      </p:sp>
    </p:spTree>
    <p:extLst>
      <p:ext uri="{BB962C8B-B14F-4D97-AF65-F5344CB8AC3E}">
        <p14:creationId xmlns:p14="http://schemas.microsoft.com/office/powerpoint/2010/main" val="1321092359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073B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18E5B0-2EF0-410D-8E6E-D987D5125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MANCHE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0D1116-37D8-4B85-977D-FF33566EC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46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AA3F39-BC2E-48E1-8E12-7892D09DF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Le labyrinthe des chemins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96755A-862B-4F5A-AC87-B215168F3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0"/>
            <a:ext cx="971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rPr>
              <a:t>Chaque réponse se lit depuis le fichier HTML de départ. Dessiner l'arborescence aide souvent.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9664DB-6EC9-48C5-A7F2-E0BA3DD50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19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20 minutes</a:t>
            </a:r>
          </a:p>
        </p:txBody>
      </p:sp>
    </p:spTree>
    <p:extLst>
      <p:ext uri="{BB962C8B-B14F-4D97-AF65-F5344CB8AC3E}">
        <p14:creationId xmlns:p14="http://schemas.microsoft.com/office/powerpoint/2010/main" val="387464386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4B21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9ACB4D-DB37-4FC4-8077-D287BCD4C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CHEMINS RELATIFS · QUESTION 1/5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AF91D6-007D-4236-9EE8-AF31A3E1D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47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2D54C7-701A-4689-AE86-9DCA03E49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953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Depuis index.html, quel lien ouvre contact.html placé dans le même dossier 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A580A9-7C13-4717-AE4E-0F45565D5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57500"/>
            <a:ext cx="10287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rPr>
              <a:t>site/</a:t>
            </a:r>
          </a:p>
          <a:p xmlns:a="http://schemas.openxmlformats.org/drawingml/2006/main">
            <a:pPr algn="l">
              <a:defRPr sz="180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rPr>
              <a:t>├── index.html</a:t>
            </a:r>
          </a:p>
          <a:p xmlns:a="http://schemas.openxmlformats.org/drawingml/2006/main">
            <a:pPr algn="l">
              <a:defRPr sz="180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rPr>
              <a:t>└── contact.html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448388-81E1-4DFB-9CB9-EA38B7D90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53125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30 secondes · Réponse commune par équipe</a:t>
            </a:r>
          </a:p>
        </p:txBody>
      </p:sp>
    </p:spTree>
    <p:extLst>
      <p:ext uri="{BB962C8B-B14F-4D97-AF65-F5344CB8AC3E}">
        <p14:creationId xmlns:p14="http://schemas.microsoft.com/office/powerpoint/2010/main" val="1581829903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073B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422571-6B42-47B5-9381-D892F3D8C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CHEMINS RELATIFS · CORRECTION 1/5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AB4E4C-DC3B-4E97-AB4F-BB87CF117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48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FA4639-47D7-42B0-9A14-43D056CA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href="contact.html"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61A95D-DD3C-47AB-867B-EB2C334CF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105727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rPr>
              <a:t>&lt;a href="contact.html"&gt;Contact&lt;/a&gt;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762CCD-E68E-4EEC-8BAD-6D6EA9D16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810125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rPr>
              <a:t>Les deux fichiers sont voisins. Aucun dossier ne sépare la page de sa destination.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77F30B-17E6-4C1A-B82A-A4EBAB32A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5312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+1 point pour une réponse exacte et expliquée</a:t>
            </a:r>
          </a:p>
        </p:txBody>
      </p:sp>
    </p:spTree>
    <p:extLst>
      <p:ext uri="{BB962C8B-B14F-4D97-AF65-F5344CB8AC3E}">
        <p14:creationId xmlns:p14="http://schemas.microsoft.com/office/powerpoint/2010/main" val="1612872018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4B21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4EC9E0-EF6B-4DBD-91ED-BF1446042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CHEMINS RELATIFS · QUESTION 2/5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94F2DB-9A46-424A-8933-41C209101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49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B3558E-4195-4CFB-B05B-DE7D4427B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953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Depuis index.html, quel chemin affiche le portrait 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A555F2-398F-471C-930F-84022A09F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57500"/>
            <a:ext cx="10287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rPr>
              <a:t>site/</a:t>
            </a:r>
          </a:p>
          <a:p xmlns:a="http://schemas.openxmlformats.org/drawingml/2006/main">
            <a:pPr algn="l">
              <a:defRPr sz="180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rPr>
              <a:t>├── index.html</a:t>
            </a:r>
          </a:p>
          <a:p xmlns:a="http://schemas.openxmlformats.org/drawingml/2006/main">
            <a:pPr algn="l">
              <a:defRPr sz="180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rPr>
              <a:t>└── images/</a:t>
            </a:r>
          </a:p>
          <a:p xmlns:a="http://schemas.openxmlformats.org/drawingml/2006/main">
            <a:pPr algn="l">
              <a:defRPr sz="180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rPr>
              <a:t>    └── portrait.jpg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36BF7E-C6F2-4D13-B190-DC83426D4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53125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30 secondes · Réponse commune par équipe</a:t>
            </a:r>
          </a:p>
        </p:txBody>
      </p:sp>
    </p:spTree>
    <p:extLst>
      <p:ext uri="{BB962C8B-B14F-4D97-AF65-F5344CB8AC3E}">
        <p14:creationId xmlns:p14="http://schemas.microsoft.com/office/powerpoint/2010/main" val="32501375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073B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BB5C67-F5EF-4D78-89CA-A103357AD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CHEMINS RELATIFS · CORRECTION 2/5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1F0F80-802D-484E-81DB-C6916E0ED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50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0EC764-2514-4F9C-BBCD-F2F96A2E4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src="images/portrait.jpg"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2920BB-18C7-462E-8E32-B70D35C76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105727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rPr>
              <a:t>&lt;img src="images/portrait.jpg" alt="Portrait du personnage"&gt;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D60327-59FC-422B-B71C-7CD3A8044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810125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rPr>
              <a:t>Depuis index.html, on entre dans le dossier images avant d'atteindre le fichier.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AA3A18-1D58-4A88-B27B-9821AEDA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5312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+1 point pour une réponse exacte et expliquée</a:t>
            </a:r>
          </a:p>
        </p:txBody>
      </p:sp>
    </p:spTree>
    <p:extLst>
      <p:ext uri="{BB962C8B-B14F-4D97-AF65-F5344CB8AC3E}">
        <p14:creationId xmlns:p14="http://schemas.microsoft.com/office/powerpoint/2010/main" val="482615801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4B21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90D128-A679-4B05-A4A9-1245813D9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CHEMINS RELATIFS · QUESTION 3/5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9F910B-0C64-4DE8-9724-6490542B8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51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5C433C-517C-49C4-ACF7-79C977EBB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953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Depuis pages/profil.html, comment revenir à index.html 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790754-F232-4CD5-9518-5EE6B95C0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57500"/>
            <a:ext cx="10287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rPr>
              <a:t>site/</a:t>
            </a:r>
          </a:p>
          <a:p xmlns:a="http://schemas.openxmlformats.org/drawingml/2006/main">
            <a:pPr algn="l">
              <a:defRPr sz="180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rPr>
              <a:t>├── index.html</a:t>
            </a:r>
          </a:p>
          <a:p xmlns:a="http://schemas.openxmlformats.org/drawingml/2006/main">
            <a:pPr algn="l">
              <a:defRPr sz="180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rPr>
              <a:t>└── pages/</a:t>
            </a:r>
          </a:p>
          <a:p xmlns:a="http://schemas.openxmlformats.org/drawingml/2006/main">
            <a:pPr algn="l">
              <a:defRPr sz="180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rPr>
              <a:t>    └── profil.html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E50C8E-D08E-4D17-B15D-8D5DC9AC0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53125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30 secondes · Réponse commune par équipe</a:t>
            </a:r>
          </a:p>
        </p:txBody>
      </p:sp>
    </p:spTree>
    <p:extLst>
      <p:ext uri="{BB962C8B-B14F-4D97-AF65-F5344CB8AC3E}">
        <p14:creationId xmlns:p14="http://schemas.microsoft.com/office/powerpoint/2010/main" val="1869857251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073B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05F216-33E7-4509-93F4-0F9474230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CHEMINS RELATIFS · CORRECTION 3/5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51D91F-5419-4F41-A069-A431A5910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52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2F8F46-FABE-4C1E-9AF5-D6916DB21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href="../index.html"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C695A9-C30D-4EEE-91FB-C9F143AAC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105727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rPr>
              <a:t>&lt;a href="../index.html"&gt;Retour à l'accueil&lt;/a&gt;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BA8A6A-E48F-4711-ABCF-7AC0B637E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810125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rPr>
              <a:t>Deux points remontent du dossier pages vers son dossier parent.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1BE76D-9617-464C-B0A8-EC2F09933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5312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+1 point pour une réponse exacte et expliquée</a:t>
            </a:r>
          </a:p>
        </p:txBody>
      </p:sp>
    </p:spTree>
    <p:extLst>
      <p:ext uri="{BB962C8B-B14F-4D97-AF65-F5344CB8AC3E}">
        <p14:creationId xmlns:p14="http://schemas.microsoft.com/office/powerpoint/2010/main" val="834760836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4B21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60F860-4D6B-4B2A-8042-7E8DA821D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CHEMINS RELATIFS · QUESTION 4/5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73B960-0961-4A20-B14B-F3D747091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53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C1F40E-5BA8-4CB7-841E-285AE65AE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953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Depuis index.html, comment ouvrir pages/profil.html 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EA8B43-0126-4DA6-BD51-82B15C775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57500"/>
            <a:ext cx="10287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rPr>
              <a:t>site/</a:t>
            </a:r>
          </a:p>
          <a:p xmlns:a="http://schemas.openxmlformats.org/drawingml/2006/main">
            <a:pPr algn="l">
              <a:defRPr sz="180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rPr>
              <a:t>├── index.html</a:t>
            </a:r>
          </a:p>
          <a:p xmlns:a="http://schemas.openxmlformats.org/drawingml/2006/main">
            <a:pPr algn="l">
              <a:defRPr sz="180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rPr>
              <a:t>└── pages/</a:t>
            </a:r>
          </a:p>
          <a:p xmlns:a="http://schemas.openxmlformats.org/drawingml/2006/main">
            <a:pPr algn="l">
              <a:defRPr sz="180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rPr>
              <a:t>    └── profil.html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602A7E-E32F-4445-8CC5-849F5E72A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53125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30 secondes · Réponse commune par équipe</a:t>
            </a:r>
          </a:p>
        </p:txBody>
      </p:sp>
    </p:spTree>
    <p:extLst>
      <p:ext uri="{BB962C8B-B14F-4D97-AF65-F5344CB8AC3E}">
        <p14:creationId xmlns:p14="http://schemas.microsoft.com/office/powerpoint/2010/main" val="881644756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073B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D447B7-10C0-4090-95E1-FF6C3FB05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CHEMINS RELATIFS · CORRECTION 4/5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717D96-9FD6-4B45-B6A3-7052A0EE6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54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BC305F-A8CB-4680-88D5-ACA1FB0B2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href="pages/profil.html"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E4DB87-F322-4C66-A6FD-AD392445E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105727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rPr>
              <a:t>&lt;a href="pages/profil.html"&gt;Voir le profil&lt;/a&gt;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C4030A-6F8A-44C9-9173-6FBA1B7D8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810125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rPr>
              <a:t>On entre dans pages, puis on cible profil.html.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7C12BB-DE81-4777-B618-EEA18AD7A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5312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+1 point pour une réponse exacte et expliquée</a:t>
            </a:r>
          </a:p>
        </p:txBody>
      </p:sp>
    </p:spTree>
    <p:extLst>
      <p:ext uri="{BB962C8B-B14F-4D97-AF65-F5344CB8AC3E}">
        <p14:creationId xmlns:p14="http://schemas.microsoft.com/office/powerpoint/2010/main" val="70983938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4B21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771432-672C-4F45-9D54-205001AFF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CHEMINS RELATIFS · QUESTION 5/5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D58695-6104-4A1C-A174-EC251986C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55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B188DD-4F81-424C-8543-BF39AAA76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953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Depuis aventures/lune.html, quel chemin mène à images/fusee.jpg 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5D0596-FDB0-4FDB-AFA9-17F8E6E34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57500"/>
            <a:ext cx="10287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rPr>
              <a:t>site/</a:t>
            </a:r>
          </a:p>
          <a:p xmlns:a="http://schemas.openxmlformats.org/drawingml/2006/main">
            <a:pPr algn="l">
              <a:defRPr sz="180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rPr>
              <a:t>├── aventures/lune.html</a:t>
            </a:r>
          </a:p>
          <a:p xmlns:a="http://schemas.openxmlformats.org/drawingml/2006/main">
            <a:pPr algn="l">
              <a:defRPr sz="180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rPr>
              <a:t>└── images/fusee.jpg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E96DA9-042F-4600-B94B-442C13E77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53125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30 secondes · Réponse commune par équipe</a:t>
            </a:r>
          </a:p>
        </p:txBody>
      </p:sp>
    </p:spTree>
    <p:extLst>
      <p:ext uri="{BB962C8B-B14F-4D97-AF65-F5344CB8AC3E}">
        <p14:creationId xmlns:p14="http://schemas.microsoft.com/office/powerpoint/2010/main" val="1742104493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073B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400FE9-C43F-469D-91B9-A59631EDB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CHEMINS RELATIFS · CORRECTION 5/5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CF9BB7-CA92-4273-A434-1F9FBE58D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56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09E5DD-BF7D-47D5-9260-01D14A373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src="../images/fusee.jpg"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7044CC-5CCB-4EF3-AC81-CDA4C85A1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105727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rPr>
              <a:t>&lt;img src="../images/fusee.jpg" alt="Fusée sur la Lune"&gt;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0D98D6-2815-46AD-87DC-5F3A6C19B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810125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rPr>
              <a:t>On remonte vers site, puis on entre dans images.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896814-EDB6-4B39-AF29-B21A6ACF0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5312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+1 point pour une réponse exacte et expliquée</a:t>
            </a:r>
          </a:p>
        </p:txBody>
      </p:sp>
    </p:spTree>
    <p:extLst>
      <p:ext uri="{BB962C8B-B14F-4D97-AF65-F5344CB8AC3E}">
        <p14:creationId xmlns:p14="http://schemas.microsoft.com/office/powerpoint/2010/main" val="958801589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4B21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0B643E-68C5-4D31-8B93-A192DF176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MANCHE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2CD35F-4BE0-409B-A254-C0228E18C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57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67C95C-81CA-40A7-ADDF-01061F083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Qui suis-je 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FD84B0-9DFF-4FAD-959E-CECD2FF19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0"/>
            <a:ext cx="971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rPr>
              <a:t>Une définition apparaît. L'équipe écrit la balise ou la famille de balises correspondante.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0EAA68-D7AA-4707-90FA-337D023AA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19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20 minutes</a:t>
            </a:r>
          </a:p>
        </p:txBody>
      </p:sp>
    </p:spTree>
    <p:extLst>
      <p:ext uri="{BB962C8B-B14F-4D97-AF65-F5344CB8AC3E}">
        <p14:creationId xmlns:p14="http://schemas.microsoft.com/office/powerpoint/2010/main" val="1282640420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4B21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9EDEBF-24A0-48C2-B6F5-32F7EA0B9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BALISES MYSTÈRES · QUESTION 1/6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F56A28-EF26-4BB4-9CB3-8B51B70B9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58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E7ADC9-DF7A-4127-BDE4-F87EEAA53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953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Je regroupe les liens permettant de se déplacer dans la page ou entre les pages.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29AAF6-0E8C-48E8-AE02-26DEC7175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57500"/>
            <a:ext cx="10287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rPr>
              <a:t>Mon contenu reste utile même lorsque le CSS disparaît.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345CB5-6E12-4840-AB72-0E884C9E6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53125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30 secondes · Réponse commune par équipe</a:t>
            </a:r>
          </a:p>
        </p:txBody>
      </p:sp>
    </p:spTree>
    <p:extLst>
      <p:ext uri="{BB962C8B-B14F-4D97-AF65-F5344CB8AC3E}">
        <p14:creationId xmlns:p14="http://schemas.microsoft.com/office/powerpoint/2010/main" val="874002562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073B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57F2E7-4E43-444D-BAFD-59A4D7A12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BALISES MYSTÈRES · CORRECTION 1/6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0C4000-ABAE-4833-BC0D-CDAA6D43E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59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373A1E-8626-4EAF-A1BC-BB3AD7BD7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&lt;nav&gt;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FED67B-56DC-44A8-B8E6-368AF0F60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105727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rPr>
              <a:t>&lt;nav&gt;</a:t>
            </a:r>
          </a:p>
          <a:p xmlns:a="http://schemas.openxmlformats.org/drawingml/2006/main">
            <a:pPr algn="l">
              <a:def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rPr>
              <a:t>  &lt;a href="index.html"&gt;Accueil&lt;/a&gt;</a:t>
            </a:r>
          </a:p>
          <a:p xmlns:a="http://schemas.openxmlformats.org/drawingml/2006/main">
            <a:pPr algn="l">
              <a:def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rPr>
              <a:t>  &lt;a href="contact.html"&gt;Contact&lt;/a&gt;</a:t>
            </a:r>
          </a:p>
          <a:p xmlns:a="http://schemas.openxmlformats.org/drawingml/2006/main">
            <a:pPr algn="l">
              <a:def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rPr>
              <a:t>&lt;/nav&gt;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1590DD-5D5E-4975-AF30-F49AE2A09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810125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rPr>
              <a:t>nav représente une section de navigation. Elle contient généralement plusieurs liens 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81C96A-B086-450A-8A76-DEA366F59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5312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+1 point pour une réponse exacte et expliquée</a:t>
            </a:r>
          </a:p>
        </p:txBody>
      </p:sp>
    </p:spTree>
    <p:extLst>
      <p:ext uri="{BB962C8B-B14F-4D97-AF65-F5344CB8AC3E}">
        <p14:creationId xmlns:p14="http://schemas.microsoft.com/office/powerpoint/2010/main" val="632210619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4B21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C362A7-7292-4530-86CE-E3F78E6A1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BALISES MYSTÈRES · QUESTION 2/6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E6BB79-46A3-47C9-801E-5EB8E7EE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60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A8BC63-01CB-4C9E-991E-CE2EB76FD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953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Je représente une composition autonome : actualité, fiche de créature ou aventure.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51226B-F557-43D2-A6A1-EE4EFDF65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57500"/>
            <a:ext cx="10287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rPr>
              <a:t>Je pourrais être repris ou distribué séparément du reste de la page.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80083D-6063-44AD-B234-BD4FF0BAE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53125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30 secondes · Réponse commune par équipe</a:t>
            </a:r>
          </a:p>
        </p:txBody>
      </p:sp>
    </p:spTree>
    <p:extLst>
      <p:ext uri="{BB962C8B-B14F-4D97-AF65-F5344CB8AC3E}">
        <p14:creationId xmlns:p14="http://schemas.microsoft.com/office/powerpoint/2010/main" val="134918707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073B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DBC398-8958-4E81-86FE-54676C1FB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BALISES MYSTÈRES · CORRECTION 2/6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BD45EC-03B9-4A6C-822F-56D37209B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61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38912A-4140-4FBD-AECA-E384E5144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&lt;article&gt;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62BB9F-B187-4FB7-87AA-3DCADDEFF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105727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rPr>
              <a:t>&lt;article&gt;</a:t>
            </a:r>
          </a:p>
          <a:p xmlns:a="http://schemas.openxmlformats.org/drawingml/2006/main">
            <a:pPr algn="l">
              <a:def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rPr>
              <a:t>  &lt;h2&gt;Le Spectre 404&lt;/h2&gt;</a:t>
            </a:r>
          </a:p>
          <a:p xmlns:a="http://schemas.openxmlformats.org/drawingml/2006/main">
            <a:pPr algn="l">
              <a:def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rPr>
              <a:t>  &lt;p&gt;Cette créature apparaît...&lt;/p&gt;</a:t>
            </a:r>
          </a:p>
          <a:p xmlns:a="http://schemas.openxmlformats.org/drawingml/2006/main">
            <a:pPr algn="l">
              <a:def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rPr>
              <a:t>&lt;/article&gt;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411A10-7A0A-4AB7-B5F0-ECF1555B4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810125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rPr>
              <a:t>article convient à un contenu autonome. section organise une partie thématique de la page.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94523D-DB7D-412B-90E1-5A8E35C3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5312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+1 point pour une réponse exacte et expliquée</a:t>
            </a:r>
          </a:p>
        </p:txBody>
      </p:sp>
    </p:spTree>
    <p:extLst>
      <p:ext uri="{BB962C8B-B14F-4D97-AF65-F5344CB8AC3E}">
        <p14:creationId xmlns:p14="http://schemas.microsoft.com/office/powerpoint/2010/main" val="1152871633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4B21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5EBBC4-40BB-4FAE-A527-D99C81260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BALISES MYSTÈRES · QUESTION 3/6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BDA564-1B76-46B6-AA1B-3C975724A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62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0C43AE-4901-4FB6-984A-4BD0DB78C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953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Nous associons une illustration autonome à une légende visible.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BD6D3A-E393-4BEA-B2CA-54D96B428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57500"/>
            <a:ext cx="10287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rPr>
              <a:t>Nous travaillons souvent avec img, mais nous ne remplaçons pas son attribut alt.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B52F8A-BE18-453B-9AB8-D1734F166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53125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30 secondes · Réponse commune par équipe</a:t>
            </a:r>
          </a:p>
        </p:txBody>
      </p:sp>
    </p:spTree>
    <p:extLst>
      <p:ext uri="{BB962C8B-B14F-4D97-AF65-F5344CB8AC3E}">
        <p14:creationId xmlns:p14="http://schemas.microsoft.com/office/powerpoint/2010/main" val="779359429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073B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74C63A-3F0B-437D-A043-16AD389F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BALISES MYSTÈRES · CORRECTION 3/6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35FD03-8B2C-4039-A625-E0ACEE89E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63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D2849B-BB6A-4A15-AEEA-1DA546AFA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&lt;figure&gt; et &lt;figcaption&gt;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886096-B89C-49B7-BA65-9C7C8F02F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105727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rPr>
              <a:t>&lt;figure&gt;</a:t>
            </a:r>
          </a:p>
          <a:p xmlns:a="http://schemas.openxmlformats.org/drawingml/2006/main">
            <a:pPr algn="l">
              <a:defRPr sz="135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rPr>
              <a:t>  &lt;img src="images/objet.jpg" alt="Objet métallique à trois roues"&gt;</a:t>
            </a:r>
          </a:p>
          <a:p xmlns:a="http://schemas.openxmlformats.org/drawingml/2006/main">
            <a:pPr algn="l">
              <a:defRPr sz="135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rPr>
              <a:t>  &lt;figcaption&gt;Le grille-pain temporel&lt;/figcaption&gt;</a:t>
            </a:r>
          </a:p>
          <a:p xmlns:a="http://schemas.openxmlformats.org/drawingml/2006/main">
            <a:pPr algn="l">
              <a:defRPr sz="135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rPr>
              <a:t>&lt;/figure&gt;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A2817C-656B-42A3-9E82-BC357A06E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810125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rPr>
              <a:t>La légende visible et le texte alternatif n'ont pas toujours le même rôle.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760D7E-E175-4D87-A016-BE2910A58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5312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+1 point pour une réponse exacte et expliquée</a:t>
            </a:r>
          </a:p>
        </p:txBody>
      </p:sp>
    </p:spTree>
    <p:extLst>
      <p:ext uri="{BB962C8B-B14F-4D97-AF65-F5344CB8AC3E}">
        <p14:creationId xmlns:p14="http://schemas.microsoft.com/office/powerpoint/2010/main" val="1500459110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4B21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D70CB1-3568-45F1-B4FB-4541B8E9F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BALISES MYSTÈRES · QUESTION 4/6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98C3FC-E3B7-4A5C-BDE1-CDF682F0F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64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3B71E1-A000-434E-BE19-0BCEA471F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953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Nous construisons un glossaire composé de termes et de définitions.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76E644-9F7F-4E16-8A79-E333487D4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57500"/>
            <a:ext cx="10287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rPr>
              <a:t>Nous ne sommes ni ul/li ni un tableau.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426E0C-5A11-4DBA-9AC1-1EC2AF375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53125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30 secondes · Réponse commune par équipe</a:t>
            </a:r>
          </a:p>
        </p:txBody>
      </p:sp>
    </p:spTree>
    <p:extLst>
      <p:ext uri="{BB962C8B-B14F-4D97-AF65-F5344CB8AC3E}">
        <p14:creationId xmlns:p14="http://schemas.microsoft.com/office/powerpoint/2010/main" val="1995064834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073B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CA417F-60C0-4B07-84C1-59F2330F2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BALISES MYSTÈRES · CORRECTION 4/6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24D695-B372-4519-9E9B-0B579A126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65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73A35D-5C7D-4401-AF93-70026CE2F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&lt;dl&gt;, &lt;dt&gt; et &lt;dd&gt;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E96BE6-3EFA-4C3F-80B1-6812867E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105727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rPr>
              <a:t>&lt;dl&gt;</a:t>
            </a:r>
          </a:p>
          <a:p xmlns:a="http://schemas.openxmlformats.org/drawingml/2006/main">
            <a:pPr algn="l">
              <a:def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rPr>
              <a:t>  &lt;dt&gt;URL&lt;/dt&gt;</a:t>
            </a:r>
          </a:p>
          <a:p xmlns:a="http://schemas.openxmlformats.org/drawingml/2006/main">
            <a:pPr algn="l">
              <a:def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rPr>
              <a:t>  &lt;dd&gt;Adresse d'une ressource sur le Web.&lt;/dd&gt;</a:t>
            </a:r>
          </a:p>
          <a:p xmlns:a="http://schemas.openxmlformats.org/drawingml/2006/main">
            <a:pPr algn="l">
              <a:def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rPr>
              <a:t>&lt;/dl&gt;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DF3124-1DBF-4A1D-8E47-8C53CF91A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810125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rPr>
              <a:t>dl contient la liste de descriptions, dt le terme et dd sa description.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B62410-3CAA-432D-815C-3609FC2E8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5312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+1 point pour une réponse exacte et expliquée</a:t>
            </a:r>
          </a:p>
        </p:txBody>
      </p:sp>
    </p:spTree>
    <p:extLst>
      <p:ext uri="{BB962C8B-B14F-4D97-AF65-F5344CB8AC3E}">
        <p14:creationId xmlns:p14="http://schemas.microsoft.com/office/powerpoint/2010/main" val="1953915830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4B21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DC5B22-26D8-47B2-9C7F-05D12DB45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BALISES MYSTÈRES · QUESTION 5/6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DCAADC-F076-4FF1-BE24-11FD024DD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66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E8C9FD-79C3-477A-B933-5D0B7D1AF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953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Nous affichons une question dont la réponse peut être ouverte ou refermée sans JavaScript.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6C9C0B-5D19-4AC1-B496-C2F11DA64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57500"/>
            <a:ext cx="10287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rPr>
              <a:t>L'un de nous contient l'autre.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EB7F7A-E244-40F9-8FF3-9EA082ACE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53125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30 secondes · Réponse commune par équipe</a:t>
            </a:r>
          </a:p>
        </p:txBody>
      </p:sp>
    </p:spTree>
    <p:extLst>
      <p:ext uri="{BB962C8B-B14F-4D97-AF65-F5344CB8AC3E}">
        <p14:creationId xmlns:p14="http://schemas.microsoft.com/office/powerpoint/2010/main" val="811182693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073B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D1F9EB-EEC2-4E49-9BDB-88248525C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BALISES MYSTÈRES · CORRECTION 5/6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A8437A-E4CD-416A-B72B-8078E26AB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67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3EE1AA-9153-40E5-B0C2-BAB3EAE1A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&lt;details&gt; et &lt;summary&gt;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612DAA-5A7A-445D-BDDA-70C0C18A2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105727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rPr>
              <a:t>&lt;details&gt;</a:t>
            </a:r>
          </a:p>
          <a:p xmlns:a="http://schemas.openxmlformats.org/drawingml/2006/main">
            <a:pPr algn="l">
              <a:defRPr sz="135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rPr>
              <a:t>  &lt;summary&gt;Le CSS est-il obligatoire ?&lt;/summary&gt;</a:t>
            </a:r>
          </a:p>
          <a:p xmlns:a="http://schemas.openxmlformats.org/drawingml/2006/main">
            <a:pPr algn="l">
              <a:defRPr sz="135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rPr>
              <a:t>  &lt;p&gt;Non. Une page HTML fonctionne sans CSS.&lt;/p&gt;</a:t>
            </a:r>
          </a:p>
          <a:p xmlns:a="http://schemas.openxmlformats.org/drawingml/2006/main">
            <a:pPr algn="l">
              <a:defRPr sz="135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rPr>
              <a:t>&lt;/details&gt;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5409FE-470B-4F44-AB7B-2E4134999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810125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rPr>
              <a:t>summary annonce la question ou le résumé et se place dans details.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8CB90D-0D6A-4AA6-8146-DF42D7482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5312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+1 point pour une réponse exacte et expliquée</a:t>
            </a:r>
          </a:p>
        </p:txBody>
      </p:sp>
    </p:spTree>
    <p:extLst>
      <p:ext uri="{BB962C8B-B14F-4D97-AF65-F5344CB8AC3E}">
        <p14:creationId xmlns:p14="http://schemas.microsoft.com/office/powerpoint/2010/main" val="1879687271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4B21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A6B050-1ACE-41DF-981D-2C1E85C5A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BALISES MYSTÈRES · QUESTION 6/6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F36677-47EF-46D6-A56A-4A30258BC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68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F0E53A-89DA-42C0-8095-BB6182E94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953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Nous organisons un formulaire en groupes nommés et relions chaque texte à son champ.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119FE7-96B8-473B-B517-839BB7242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57500"/>
            <a:ext cx="10287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rPr>
              <a:t>Quatre balises sont attendues.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F53725-2DA2-48DA-BC63-4F31C1046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53125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30 secondes · Réponse commune par équipe</a:t>
            </a:r>
          </a:p>
        </p:txBody>
      </p:sp>
    </p:spTree>
    <p:extLst>
      <p:ext uri="{BB962C8B-B14F-4D97-AF65-F5344CB8AC3E}">
        <p14:creationId xmlns:p14="http://schemas.microsoft.com/office/powerpoint/2010/main" val="2004949358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073B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50EB89-19E9-402B-AC8B-A07C2D4DA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BALISES MYSTÈRES · CORRECTION 6/6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A2A617-4454-4896-8B73-3E614C63D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69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B57E65-BBA8-4603-AADD-CE7410CE2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form, fieldset, legend et label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81DBAC-F65B-4D91-971F-7652439F3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105727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8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rPr>
              <a:t>&lt;form&gt;</a:t>
            </a:r>
          </a:p>
          <a:p xmlns:a="http://schemas.openxmlformats.org/drawingml/2006/main">
            <a:pPr algn="l">
              <a:defRPr sz="1275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rPr>
              <a:t>  &lt;fieldset&gt;</a:t>
            </a:r>
          </a:p>
          <a:p xmlns:a="http://schemas.openxmlformats.org/drawingml/2006/main">
            <a:pPr algn="l">
              <a:defRPr sz="1275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rPr>
              <a:t>    &lt;legend&gt;Identité&lt;/legend&gt;</a:t>
            </a:r>
          </a:p>
          <a:p xmlns:a="http://schemas.openxmlformats.org/drawingml/2006/main">
            <a:pPr algn="l">
              <a:defRPr sz="1275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rPr>
              <a:t>    &lt;label for="nom"&gt;Nom&lt;/label&gt;</a:t>
            </a:r>
          </a:p>
          <a:p xmlns:a="http://schemas.openxmlformats.org/drawingml/2006/main">
            <a:pPr algn="l">
              <a:defRPr sz="1275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rPr>
              <a:t>    &lt;input id="nom" name="nom"&gt;</a:t>
            </a:r>
          </a:p>
          <a:p xmlns:a="http://schemas.openxmlformats.org/drawingml/2006/main">
            <a:pPr algn="l">
              <a:defRPr sz="1275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rPr>
              <a:t>  &lt;/fieldset&gt;</a:t>
            </a:r>
          </a:p>
          <a:p xmlns:a="http://schemas.openxmlformats.org/drawingml/2006/main">
            <a:pPr algn="l">
              <a:defRPr sz="1275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 i="0">
                <a:solidFill>
                  <a:srgbClr val="FFF7E8"/>
                </a:solidFill>
                <a:latin typeface="DejaVu Sans Mono"/>
                <a:ea typeface="DejaVu Sans Mono"/>
                <a:cs typeface="DejaVu Sans Mono"/>
              </a:rPr>
              <a:t>&lt;/form&gt;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75DA75-B039-4BD9-9D06-33BC4DB22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810125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rPr>
              <a:t>fieldset regroupe les contrôles, legend nomme le groupe et label désigne un champ grâce à for et id.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265C2B-1334-4657-B01E-7C836F9F7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5312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+1 point pour une réponse exacte et expliquée</a:t>
            </a:r>
          </a:p>
        </p:txBody>
      </p:sp>
    </p:spTree>
    <p:extLst>
      <p:ext uri="{BB962C8B-B14F-4D97-AF65-F5344CB8AC3E}">
        <p14:creationId xmlns:p14="http://schemas.microsoft.com/office/powerpoint/2010/main" val="1241003676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1428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79AE06-A3E0-4525-8628-AF38B9D34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E0B44C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E0B44C"/>
                </a:solidFill>
                <a:latin typeface="DejaVu Sans"/>
                <a:ea typeface="DejaVu Sans"/>
                <a:cs typeface="DejaVu Sans"/>
              </a:rPr>
              <a:t>MANCHE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BEF8FD-8D79-4CB9-AB6B-D28E258A9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70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870235-6013-4C88-AE03-43D7089F4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Défi final : un mini-site qui tient debout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94AF83-0DF6-474D-A8A5-96C6A126B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0"/>
            <a:ext cx="971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rPr>
              <a:t>Les équipes choisissent un thème, construisent plusieurs pages puis font tester leur production.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0FCBC1-48F3-4AB7-AFF3-3047B15B6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19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E0B44C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i="0">
                <a:solidFill>
                  <a:srgbClr val="E0B44C"/>
                </a:solidFill>
                <a:latin typeface="DejaVu Sans"/>
                <a:ea typeface="DejaVu Sans"/>
                <a:cs typeface="DejaVu Sans"/>
              </a:rPr>
              <a:t>100 minutes</a:t>
            </a:r>
          </a:p>
        </p:txBody>
      </p:sp>
    </p:spTree>
    <p:extLst>
      <p:ext uri="{BB962C8B-B14F-4D97-AF65-F5344CB8AC3E}">
        <p14:creationId xmlns:p14="http://schemas.microsoft.com/office/powerpoint/2010/main" val="128343667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1428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A95D4D-2F12-4573-8D8D-B248700A4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DÉFI FINAL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3C0640-F269-400E-BA81-DB23A363B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71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D42620-99B9-4A03-984D-4EC8B2D67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La mission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840D78-25DB-48C2-AF90-0FA59BB2D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477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rPr>
              <a:t>1. Créer un site de quatre pages dans un nouveau dossier.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rPr>
              <a:t>2. Partager le travail sans produire quatre pages incohérentes.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rPr>
              <a:t>3. Utiliser uniquement HTML et, si vous le souhaitez, le CSS déjà fourni.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rPr>
              <a:t>4. Préparer une démonstration de deux minutes.</a:t>
            </a:r>
          </a:p>
        </p:txBody>
      </p:sp>
    </p:spTree>
    <p:extLst>
      <p:ext uri="{BB962C8B-B14F-4D97-AF65-F5344CB8AC3E}">
        <p14:creationId xmlns:p14="http://schemas.microsoft.com/office/powerpoint/2010/main" val="231716487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FF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33EC4C-637B-4D61-A1F7-98B136B9B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CHOIX DU PROJET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C0E55B-1ABC-497F-906A-80119AFA9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72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FB47F6-F870-421F-BDC2-062D69D1C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 i="0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Quatre univers au choix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7685C1-7E19-434F-BA40-8F50B7C43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477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1. Le CV de Tintin : profil, aventures, Milou et candidature.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 i="0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2. Le musée des inventions impossibles : collection, deux œuvres et visite.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 i="0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3. Le festival intergalactique : accueil, programme, artistes et inscription.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 i="0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4. Une aventure hypertexte : départ, scènes, objets et plusieurs fins.</a:t>
            </a:r>
          </a:p>
        </p:txBody>
      </p:sp>
    </p:spTree>
    <p:extLst>
      <p:ext uri="{BB962C8B-B14F-4D97-AF65-F5344CB8AC3E}">
        <p14:creationId xmlns:p14="http://schemas.microsoft.com/office/powerpoint/2010/main" val="348593213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FF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BBF7B8-C72D-49C2-B3D0-2178CE1BC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CONCEPTION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549C68-B929-47DE-A868-306CC7F31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73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6ABEE1-EB12-41C5-A48B-3251C30DA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 i="0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Plan avant le code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AEB937-2634-4556-91E5-89E5A0C90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477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1. Dessiner l'arborescence des fichiers et du dossier images.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 i="0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2. Donner un rôle précis à chacune des quatre pages.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 i="0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3. Écrire la navigation commune avant de remplir le contenu.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 i="0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4. Répartir les pages, puis prévoir un contrôle collectif des chemins.</a:t>
            </a:r>
          </a:p>
        </p:txBody>
      </p:sp>
    </p:spTree>
    <p:extLst>
      <p:ext uri="{BB962C8B-B14F-4D97-AF65-F5344CB8AC3E}">
        <p14:creationId xmlns:p14="http://schemas.microsoft.com/office/powerpoint/2010/main" val="2024915906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4B21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97864B-9175-4286-A3AC-673BC4F12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CONTRAT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A109BD-F639-4A67-9547-934A92428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74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B06F0E-20A9-463F-96BF-FC43CF159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Contraintes techniques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2901B7-365B-4237-BA4C-72B6C181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477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rPr>
              <a:t>1. Chaque page possède un title différent, un h1 et une structure complète.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rPr>
              <a:t>2. La navigation permet d'atteindre toutes les pages et de revenir à l'accueil.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rPr>
              <a:t>3. Le site contient au moins deux listes, un tableau ou un formulaire et quatre images locales avec alt.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rPr>
              <a:t>4. Au moins deux balises sémantiques apparaissent parmi header, nav, main, section, article et footer.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rPr>
              <a:t>5. Une page sources crédite les images utilisées.</a:t>
            </a:r>
          </a:p>
        </p:txBody>
      </p:sp>
    </p:spTree>
    <p:extLst>
      <p:ext uri="{BB962C8B-B14F-4D97-AF65-F5344CB8AC3E}">
        <p14:creationId xmlns:p14="http://schemas.microsoft.com/office/powerpoint/2010/main" val="1343837048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073B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B55211-5FC2-4A85-A571-111E5AA00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CARTE ÉVÉNEMENT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8820D0-21FE-4EE6-882B-3B6D8037E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75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F4FF49-46DC-43F7-8272-1271B3CE9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La surprise à mi-parcours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2BB78A-009D-4DEA-B251-EB7D71906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477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rPr>
              <a:t>1. Chaque équipe tire une contrainte supplémentaire.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rPr>
              <a:t>2. Ajouter une FAQ avec details et summary.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rPr>
              <a:t>3. Ajouter une figure légendée ou un glossaire dl, dt et dd.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rPr>
              <a:t>4. Ajouter une page placée dans un sous-dossier et réparer tous les chemins.</a:t>
            </a:r>
          </a:p>
        </p:txBody>
      </p:sp>
    </p:spTree>
    <p:extLst>
      <p:ext uri="{BB962C8B-B14F-4D97-AF65-F5344CB8AC3E}">
        <p14:creationId xmlns:p14="http://schemas.microsoft.com/office/powerpoint/2010/main" val="838872884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FFF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D3066C-4A93-47B0-8196-AA74D6E43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62545A-B54C-40D2-B289-4417A3D43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76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E336A1-8DFD-4B63-AF7D-D8F9D7B7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 i="0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Recette croisée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E9D624-197E-4EB0-9079-B9F3A5382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477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1. Ouvrir le site d'une autre équipe sans recevoir d'explication.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 i="0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2. Tester tous les liens, toutes les images et le retour à l'accueil.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 i="0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3. Vérifier les titres, les textes alternatifs et les libellés du formulaire.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 i="0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4. Écrire un bug précis et une qualité précise. Ne pas corriger à la place des auteurs.</a:t>
            </a:r>
          </a:p>
        </p:txBody>
      </p:sp>
    </p:spTree>
    <p:extLst>
      <p:ext uri="{BB962C8B-B14F-4D97-AF65-F5344CB8AC3E}">
        <p14:creationId xmlns:p14="http://schemas.microsoft.com/office/powerpoint/2010/main" val="872540843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4B21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4B9346-0BFA-43E0-82B4-01940774E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GALERIE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DD7EEB-87A9-4EC5-8C7D-9D2F73F4A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77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E7B747-C6F2-42DC-A4AC-EDC02E430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Les votes de la classe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1B9498-8531-4EFD-868C-1EE678CD0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477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rPr>
              <a:t>1. Navigation la plus claire.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rPr>
              <a:t>2. Meilleur diagnostic d'un bug.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rPr>
              <a:t>3. Usage le plus pertinent des balises HTML.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rPr>
              <a:t>4. Univers le plus mémorable.</a:t>
            </a:r>
          </a:p>
        </p:txBody>
      </p:sp>
    </p:spTree>
    <p:extLst>
      <p:ext uri="{BB962C8B-B14F-4D97-AF65-F5344CB8AC3E}">
        <p14:creationId xmlns:p14="http://schemas.microsoft.com/office/powerpoint/2010/main" val="1635177166"/>
      </p:ext>
    </p:extLst>
  </p:cSld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073B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AD7F48-327A-466E-B26C-F9A9662CC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DERNIÈRE VÉRIFICATION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26A06A-DD1D-4C54-8FBA-4F67D70BE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78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B131F4-45CB-4536-B656-0CD6B06FD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La checklist avant de présenter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2803CF-EC4A-4171-88D2-2BD3F3B10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477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rPr>
              <a:t>1. Les fichiers sont enregistrés et les noms respectent la casse.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rPr>
              <a:t>2. Tous les liens et chemins ont été testés depuis chaque page.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rPr>
              <a:t>3. Le site reste compréhensible lorsque le CSS est retiré.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rPr>
              <a:t>4. Chaque membre sait expliquer une partie du code et un bug résolu.</a:t>
            </a:r>
          </a:p>
        </p:txBody>
      </p:sp>
    </p:spTree>
    <p:extLst>
      <p:ext uri="{BB962C8B-B14F-4D97-AF65-F5344CB8AC3E}">
        <p14:creationId xmlns:p14="http://schemas.microsoft.com/office/powerpoint/2010/main" val="1703947105"/>
      </p:ext>
    </p:extLst>
  </p:cSld>
</p:sld>
</file>

<file path=ppt/slides/slide79.xml><?xml version="1.0" encoding="utf-8"?>
<p:sld xmlns:p="http://schemas.openxmlformats.org/presentationml/2006/main">
  <p:cSld>
    <p:bg>
      <p:bgPr>
        <a:solidFill xmlns:a="http://schemas.openxmlformats.org/drawingml/2006/main">
          <a:srgbClr val="1428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DA8E0B-DCBB-4692-99D8-32F5B608F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BILAN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C3A29F-2AD8-448B-919B-E647C0C65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79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6FB87B-DBA6-4DF3-A21A-A48DEC0D3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8587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 i="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Ce que je sais refaire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66CC7A-AE83-472A-8AA2-6DD8974CC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67000"/>
            <a:ext cx="4381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SEUL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AVEC UN MODÈLE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 i="0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PAS ENCORE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68D9E9-5345-4E86-9F44-DF2B0610F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57500"/>
            <a:ext cx="5619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rPr>
              <a:t>Choisissez une notion dans chaque catégorie.</a:t>
            </a:r>
          </a:p>
          <a:p xmlns:a="http://schemas.openxmlformats.org/drawingml/2006/main">
            <a:pPr algn="l">
              <a:defRPr sz="180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 i="0">
                <a:solidFill>
                  <a:srgbClr val="E8D7B8"/>
                </a:solidFill>
                <a:latin typeface="DejaVu Sans"/>
                <a:ea typeface="DejaVu Sans"/>
                <a:cs typeface="DejaVu Sans"/>
              </a:rPr>
              <a:t>Notez ensuite votre prochaine étape dans bilan.txt.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1AE719-4784-4E20-BD53-3B2EC4386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i="0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Une page comprise vaut mieux que dix pages copiées.</a:t>
            </a:r>
          </a:p>
        </p:txBody>
      </p:sp>
    </p:spTree>
    <p:extLst>
      <p:ext uri="{BB962C8B-B14F-4D97-AF65-F5344CB8AC3E}">
        <p14:creationId xmlns:p14="http://schemas.microsoft.com/office/powerpoint/2010/main" val="1680839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2026-09-24T10:21:08.2000000Z</dcterms:created>
  <dcterms:modified xsi:type="dcterms:W3CDTF">2026-09-24T10:21:08.2000000Z</dcterms:modified>
</coreProperties>
</file>